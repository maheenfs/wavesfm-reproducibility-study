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Phase 1: Self-Supervised Pretraining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The model learns general wireless knowledge from unlabeled data by reconstructing masked inputs (Slide 1/8)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2560320" cy="11887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1565C0"/>
                </a:solidFill>
              </a:rPr>
              <a:t>IQ Dataset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3,200 unlabeled samples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4-antenna MIMO recordings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of various radio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51560"/>
            <a:ext cx="2560320" cy="11887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E65100"/>
                </a:solidFill>
              </a:rPr>
              <a:t>Spectrogram Dataset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3,200 unlabeled samples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WiFi, LTE, Bluetooth, 5G-NR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signal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A4AE"/>
                </a:solidFill>
              </a:rPr>
              <a:t>Step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240280"/>
            <a:ext cx="0" cy="32004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0" y="2240280"/>
            <a:ext cx="0" cy="32004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2468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A4AE"/>
                </a:solidFill>
              </a:rPr>
              <a:t>Step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06040"/>
            <a:ext cx="5486400" cy="13716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795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795548"/>
                </a:solidFill>
              </a:rPr>
              <a:t>Random Masking — 70% of tokens hidden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The input is converted to tokens (via adapters), then 70% are randomly removed.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The model only gets to see the remaining 30%. Its job is to figure out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what the hidden 70% looked like — forcing it to learn the underlying structure.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3977639"/>
            <a:ext cx="0" cy="320041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" y="42062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A4AE"/>
                </a:solidFill>
              </a:rPr>
              <a:t>Step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343400"/>
            <a:ext cx="5486400" cy="1051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2E7D32"/>
                </a:solidFill>
              </a:rPr>
              <a:t>Shared ViT Encoder — 8 Blocks, ALL trainable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Processes only visible tokens. Each block applies self-attention (see Slide 2)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to build rich representations. During pretraining, every weight can update.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5394960"/>
            <a:ext cx="0" cy="22860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" y="5532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A4AE"/>
                </a:solidFill>
              </a:rPr>
              <a:t>Step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669280"/>
            <a:ext cx="5486400" cy="548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BF3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BF360C"/>
                </a:solidFill>
              </a:rPr>
              <a:t>Decoder — reconstructs masked tokens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4 lightweight blocks. Inserts learnable mask tokens, predicts originals. Discarded after training.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621792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" y="6355080"/>
            <a:ext cx="5486400" cy="3657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C62828"/>
                </a:solidFill>
              </a:rPr>
              <a:t>Loss = MSE = (1/|M|) * SUM ||x_i - x_hat_i||^2   over masked positions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051560"/>
            <a:ext cx="53035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455A64"/>
                </a:solidFill>
              </a:rPr>
              <a:t>Why self-supervised pretraining?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Labeled wireless data is expensive to collect. But unlabeled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radio recordings are abundant. By training the model to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reconstruct masked signals, it learns general patterns: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What WiFi bursts look like vs. Bluetooth hops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How multipath propagation affects channel responses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Temporal and spatial structure in IQ waveforms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2E7D32"/>
                </a:solidFill>
              </a:rPr>
              <a:t>This general knowledge transfers to many downstream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30352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455A64"/>
                </a:solidFill>
              </a:rPr>
              <a:t>Training details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- 800 epochs, 40-epoch linear warmup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Adam optimizer, learning rate = 0.001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Cosine LR schedule (gradually decreases LR)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Alternates: 1 batch of IQ, then 1 batch of spectrograms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- Both modalities share the same encoder weights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074920"/>
            <a:ext cx="530352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2E7D32"/>
                </a:solidFill>
              </a:rPr>
              <a:t>What pretraining produces: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 checkpoint file (wavesfm-v1p0.pth) containing encoder weights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that capture general wireless knowledge. This is then reused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in Phase 2 (fine-tuning) for specific tasks.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6172200"/>
            <a:ext cx="5303520" cy="548640"/>
          </a:xfrm>
          <a:prstGeom prst="roundRect">
            <a:avLst/>
          </a:prstGeom>
          <a:solidFill>
            <a:srgbClr val="FBE9E7"/>
          </a:solidFill>
          <a:ln w="12700">
            <a:solidFill>
              <a:srgbClr val="BF3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BF360C"/>
                </a:solidFill>
              </a:rPr>
              <a:t>The decoder is DISCARDED after pretraining.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Only the encoder moves on to Phase 2. The decoder was just a training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Self-Attention Math — How Tokens Communicate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Each token computes relevance scores with every other token, then takes a weighted sum of their values (Slide 2/8)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486400" cy="123444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1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1579B"/>
                </a:solidFill>
              </a:rPr>
              <a:t>Step 1: Create three versions of each token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Each 256-d token is transformed into three vectors: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  Query (Q) — "What am I looking for?"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  Key (K)   — "What do I contain?"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  Value (V) — "What information should I pass along?"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377440"/>
            <a:ext cx="5486400" cy="77724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1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1579B"/>
                </a:solidFill>
              </a:rPr>
              <a:t>Step 2: Split into 8 independent "heads"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Each Q, K, V is split into 8 slices of 32 dimensions.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Each head computes its own attention — capturing a different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291840"/>
            <a:ext cx="5486400" cy="150876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1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1579B"/>
                </a:solidFill>
              </a:rPr>
              <a:t>Step 3: Score, normalize, and mix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Score: compare each Query with every Key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  High score = "these two tokens are relevant to each other"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Normalize: convert scores to percentages (softmax)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  Each token gets a distribution over all tokens (sums to 100%)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Mix: blend all Values using those percentages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  Tokens with higher relevance contribute more to the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937760"/>
            <a:ext cx="5486400" cy="77724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1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1579B"/>
                </a:solidFill>
              </a:rPr>
              <a:t>Step 4: Combine all 8 heads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Concatenate all 8 head outputs back into one 256-d vector.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 final projection merges the different "views" into a unified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05840"/>
            <a:ext cx="5669280" cy="914400"/>
          </a:xfrm>
          <a:prstGeom prst="roundRect">
            <a:avLst/>
          </a:prstGeom>
          <a:solidFill>
            <a:srgbClr val="FDF6E3"/>
          </a:solidFill>
          <a:ln w="31750">
            <a:solidFill>
              <a:srgbClr val="8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8D6E63"/>
                </a:solidFill>
              </a:rPr>
              <a:t>THE KEY IDEA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212121"/>
                </a:solidFill>
              </a:rPr>
              <a:t>Every token asks: "which other tokens are relevant to me?"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Then it collects information from the most relevant 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03120"/>
            <a:ext cx="566928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455A64"/>
                </a:solidFill>
              </a:rPr>
              <a:t>Concrete example: 4 tokens, computing attention for token 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Raw scores:  Q_1 . K_j / sqrt(32) = [2.1, 0.3, -0.5, 1.8]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After softmax:  weights = [0.52, 0.09, 0.04, 0.35]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Token 1 puts 52% weight on itself, 35% on token 4,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9% on token 2, 4% on token 3. Then: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out_1 = 0.52*V_1 + 0.09*V_2 + 0.04*V_3 + 0.35*V_4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Result: token 1 now carries information from tokens 1 and 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43400"/>
            <a:ext cx="566928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455A64"/>
                </a:solidFill>
              </a:rPr>
              <a:t>Why 8 heads? Each learns different attention patterns: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Head 1:  [0.52, 0.09, 0.04, 0.35]  — attends to tokens 1 and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Head 3:  [0.10, 0.70, 0.15, 0.05]  — focuses heavily on token 2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Head 5:  [0.25, 0.25, 0.25, 0.25]  — spreads attention evenly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Different heads capture different kinds of relationships in the data.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Concatenating 8 heads gives a richer representation than one head would.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852160"/>
            <a:ext cx="11430000" cy="868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455A64"/>
                </a:solidFill>
              </a:rPr>
              <a:t>What makes self-attention powerful: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Every token can directly access information from every other token — no matter how far apart they are in the input.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Unlike convolutions (which only see local neighborhoods), attention sees the entire input at once.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8 heads capture 8 different types of relationships simultaneously (frequency, spatial, temporal patterns).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Inside a Transformer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Each of the 8 encoder blocks performs these operations on every token (Slide 3/8)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28600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2E7D32"/>
                </a:solidFill>
              </a:rPr>
              <a:t>Input Tokens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(list of 256-d vectors)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371600"/>
            <a:ext cx="457200" cy="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005840"/>
            <a:ext cx="5486400" cy="731520"/>
          </a:xfrm>
          <a:prstGeom prst="roundRect">
            <a:avLst/>
          </a:prstGeom>
          <a:solidFill>
            <a:srgbClr val="E1F5FE"/>
          </a:solidFill>
          <a:ln w="25400">
            <a:solidFill>
              <a:srgbClr val="01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01579B"/>
                </a:solidFill>
              </a:rPr>
              <a:t>Step 1: Multi-Head Self-Attention (see Slide 2)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Each token looks at ALL other tokens to decide which ones are relevant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737360"/>
            <a:ext cx="0" cy="27432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011680"/>
            <a:ext cx="5303520" cy="2743200"/>
          </a:xfrm>
          <a:prstGeom prst="roundRect">
            <a:avLst/>
          </a:prstGeom>
          <a:solidFill>
            <a:srgbClr val="E1F5FE"/>
          </a:solidFill>
          <a:ln w="19050">
            <a:solidFill>
              <a:srgbClr val="015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1579B"/>
                </a:solidFill>
              </a:rPr>
              <a:t>How Self-Attention works (see Slide 2 for details):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1. Each token creates Query, Key, Value versions of itself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2. Split into 8 heads — each head looks for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   a different type of relationship between tokens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3. Score: Query asks "who is relevant?" Key answers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   High score = relevant. Softmax turns scores to %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4. Mix: blend Values weighted by those percentages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   Each token now carries context from relevant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2743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455A64"/>
                </a:solidFill>
              </a:rPr>
              <a:t>Example: WiFi sensing (196 tokens)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 CSI image (224x224) split into 196 patches (tokens).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 patch showing signal fading in one corner can "attend"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to patches showing strong signal elsewhere. This lets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the model understand the spatial pattern of signal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propagation across the entire image at once.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Multi-head attention (8 heads) means 8 different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"views" of relevance are computed in parallel,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each capturing different types of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5303520" cy="914400"/>
          </a:xfrm>
          <a:prstGeom prst="roundRect">
            <a:avLst/>
          </a:prstGeom>
          <a:solidFill>
            <a:srgbClr val="F1F8E9"/>
          </a:solidFill>
          <a:ln w="19050">
            <a:solidFill>
              <a:srgbClr val="336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33691E"/>
                </a:solidFill>
              </a:rPr>
              <a:t>Step 2: Feed-Forward Network (each token independently)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Expands each token from 256 to 1024 dimensions,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applies activation, then compresses back to 256.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937760"/>
            <a:ext cx="5486400" cy="91440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4A148C"/>
                </a:solidFill>
              </a:rPr>
              <a:t>Step 3: Layer Normalization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Stabilizes token values so they do not grow too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large or too small. Keeps training stable across blocks.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212121"/>
                </a:solidFill>
              </a:rPr>
              <a:t>Residual connections: the output of each step is ADDED to its input, so original information always passes through.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If attention or FFN learns nothing useful for a token, that token arrives at the next block unchanged.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Stacking 8 blocks = 8 rounds of "attend to context, then process," progressively building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Phase 2: Fine-Tuning — Complete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Reusing the pretrained encoder for specific wireless tasks — showing tensor shapes at every step (Slide 4/8)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4114800" cy="914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565C0"/>
                </a:solidFill>
              </a:rPr>
              <a:t>IQ Signals — raw waveforms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Shape: (N, 2, antennas, time_steps)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e.g. rml (2,1,128) | rfp (2,1,512) | uwb (2,8,1016)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051560"/>
            <a:ext cx="4114800" cy="914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E65100"/>
                </a:solidFill>
              </a:rPr>
              <a:t>Vision Data — 2D wireless grids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Shape: (N, channels, H, W)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e.g. sensing (3,224,224) | deepmimo (2,32,32)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965960"/>
            <a:ext cx="0" cy="27432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01200" y="1965960"/>
            <a:ext cx="0" cy="27432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240280"/>
            <a:ext cx="4114800" cy="118872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2835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283593"/>
                </a:solidFill>
              </a:rPr>
              <a:t>IQ Adapter (always trainable)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Segment into length-16 chunks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Conv1d(2, 256, kernel=16) per segment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+ 1D time position embedding + antenna embedding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12121"/>
                </a:solidFill>
              </a:rPr>
              <a:t>Output: (N, segments*antennas, 256)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240280"/>
            <a:ext cx="4114800" cy="118872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2835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283593"/>
                </a:solidFill>
              </a:rPr>
              <a:t>Vision Adapter (always trainable)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Split into 16x16 patches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Conv2d(C, 256, kernel=16x16) per patch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+ 2D sinusoidal position embedding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12121"/>
                </a:solidFill>
              </a:rPr>
              <a:t>Output: (N, H/16 * W/16, 256)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331720"/>
            <a:ext cx="2560320" cy="960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455A64"/>
                </a:solidFill>
              </a:rPr>
              <a:t>Both adapters produce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SAME format: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(N, num_tokens, 256)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Unified token sequences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429000"/>
            <a:ext cx="2468880" cy="320039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132320" y="3429000"/>
            <a:ext cx="2468880" cy="320039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6000" y="3749039"/>
            <a:ext cx="7616952" cy="41148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F57F17"/>
                </a:solidFill>
              </a:rPr>
              <a:t>Modality Conditioning:  z = z * scale + bias  (learned per modality)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4160520"/>
            <a:ext cx="0" cy="22860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2976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Prepend CLS token: (N, 1+L, 256)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1274552" cy="3657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</a:rPr>
              <a:t>Shared ViT Encoder — loads pretrained weights from wavesfm-v1p0.pth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37760"/>
            <a:ext cx="1234440" cy="5029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1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4937760"/>
            <a:ext cx="1234440" cy="5029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937760"/>
            <a:ext cx="1234440" cy="5029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3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937760"/>
            <a:ext cx="1234440" cy="5029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4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937760"/>
            <a:ext cx="1234440" cy="5029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5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4937760"/>
            <a:ext cx="1234440" cy="50292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6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4937760"/>
            <a:ext cx="1234440" cy="50292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7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937760"/>
            <a:ext cx="1234440" cy="50292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 8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700" b="0" i="0">
                <a:solidFill>
                  <a:srgbClr val="455A64"/>
                </a:solidFill>
              </a:rPr>
              <a:t>Attn-&gt;FF-&gt;Norm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5896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565C0"/>
                </a:solidFill>
              </a:rPr>
              <a:t>Blocks 1-6: FROZEN (pretrained, locked)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45896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</a:rPr>
              <a:t>Blocks 7-8: mode-dependent (see Slide 7)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9904" y="5696712"/>
            <a:ext cx="0" cy="109728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57600" y="5806440"/>
            <a:ext cx="4873752" cy="3200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E7D32"/>
                </a:solidFill>
              </a:rPr>
              <a:t>Extract CLS token: z[:, 0] -&gt; (N, 256)  one summary vector per sample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9904" y="612648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6263640"/>
            <a:ext cx="3383280" cy="50292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AD1457"/>
                </a:solidFill>
              </a:rPr>
              <a:t>Classification Head: Linear(256, K)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K logits -&gt; softmax -&gt; argmax -&gt; class label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6263640"/>
            <a:ext cx="3383280" cy="50292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AD1457"/>
                </a:solidFill>
              </a:rPr>
              <a:t>Regression Head: Linear(256, D)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D coordinates -&gt; tanh -&gt; denormalize -&gt; meters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6263640"/>
            <a:ext cx="3383280" cy="50292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AD1457"/>
                </a:solidFill>
              </a:rPr>
              <a:t>Beam Head: Linear(256, 64)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64 logits -&gt; softmax -&gt; argmax -&gt; beam 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E7D32"/>
                </a:solidFill>
              </a:rPr>
              <a:t>Encoder already knows useful
patterns from pretraining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How Task Heads Work — From Features to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The head is a single linear layer: Linear(256, K). Always trained from scratch, never pretrained. (Slide 5/8)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3611880" cy="3200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AD1457"/>
                </a:solidFill>
              </a:rPr>
              <a:t>CLASSIFICATION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61188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</a:rPr>
              <a:t>CLS Feature Vector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h = (256,) — encoder summary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80260" y="182880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1965960"/>
            <a:ext cx="3611880" cy="12344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AD1457"/>
                </a:solidFill>
              </a:rPr>
              <a:t>Head = Linear(256, K)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Multiplies 256 features by a weight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matrix to produce K logits — one per class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Each score answers: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"How well do features match this class?"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80260" y="320040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3337560"/>
            <a:ext cx="3611880" cy="82296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8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8D6E63"/>
                </a:solidFill>
              </a:rPr>
              <a:t>Softmax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Converts logits to probabilities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All probabilities add up to 100%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80260" y="416052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4297680"/>
            <a:ext cx="3611880" cy="6400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6A1B9A"/>
                </a:solidFill>
              </a:rPr>
              <a:t>Prediction = argmax(p)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Pick class with highest probability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074920"/>
            <a:ext cx="36118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455A64"/>
                </a:solidFill>
              </a:rPr>
              <a:t>Used by: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rfp K=4 | rml K=11 | radcom K=9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interf K=3 | sensing K=6 | los K=2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868680"/>
            <a:ext cx="3611880" cy="3200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AD1457"/>
                </a:solidFill>
              </a:rPr>
              <a:t>REGRESSION 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280160"/>
            <a:ext cx="361188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</a:rPr>
              <a:t>CLS Feature Vector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h = (256,) — same encoder 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20740" y="182880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14800" y="1965960"/>
            <a:ext cx="3611880" cy="12344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AD1457"/>
                </a:solidFill>
              </a:rPr>
              <a:t>Head = Linear(256, D)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Multiplies 256 features by a weight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matrix to produce D coordinates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D = 2 for (x,y) or D = 3 for (x,y,z)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12121"/>
                </a:solidFill>
              </a:rPr>
              <a:t>Outputs a raw position estimate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20740" y="320040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0" y="3337560"/>
            <a:ext cx="3611880" cy="82296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8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8D6E63"/>
                </a:solidFill>
              </a:rPr>
              <a:t>tanh Activation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Squeezes output into [-1, 1] range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Keeps coordinates within valid bounds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20740" y="416052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0" y="4297680"/>
            <a:ext cx="3611880" cy="6400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6A1B9A"/>
                </a:solidFill>
              </a:rPr>
              <a:t>Denormalize to meters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Scales [-1,1] back to real-world meters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5074920"/>
            <a:ext cx="36118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455A64"/>
                </a:solidFill>
              </a:rPr>
              <a:t>Used by: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pos D=3 (x,y,z) range [0,80]x[0,60]x[0,40]m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uwb-indoor D=3 | uwb-industrial D=2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868680"/>
            <a:ext cx="3611880" cy="3200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AD1457"/>
                </a:solidFill>
              </a:rPr>
              <a:t>BEAM HEAD (= classification, K=64)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280160"/>
            <a:ext cx="3611880" cy="5486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</a:rPr>
              <a:t>CLS Feature Vector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h = (256,)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61219" y="182880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55279" y="1965960"/>
            <a:ext cx="3611880" cy="12344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AD1457"/>
                </a:solidFill>
              </a:rPr>
              <a:t>Head = Linear(256, 64)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Same as classification — multiplies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features to produce 64 logits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Each score answers: "how likely is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this beam direction the best one?"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61219" y="320040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55279" y="3337560"/>
            <a:ext cx="3611880" cy="822960"/>
          </a:xfrm>
          <a:prstGeom prst="roundRect">
            <a:avLst/>
          </a:prstGeom>
          <a:solidFill>
            <a:srgbClr val="FDF6E3"/>
          </a:solidFill>
          <a:ln w="25400">
            <a:solidFill>
              <a:srgbClr val="8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8D6E63"/>
                </a:solidFill>
              </a:rPr>
              <a:t>Softmax -&gt; 64 probabilities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Converts logits to probabilities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One probability per beam direction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61219" y="4160520"/>
            <a:ext cx="0" cy="137160"/>
          </a:xfrm>
          <a:prstGeom prst="line">
            <a:avLst/>
          </a:prstGeom>
          <a:ln w="25400">
            <a:solidFill>
              <a:srgbClr val="3747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55279" y="4297680"/>
            <a:ext cx="3611880" cy="64008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6A1B9A"/>
                </a:solidFill>
              </a:rPr>
              <a:t>Beam index = argmax(p)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angle = -90 + beam*(180/64) deg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5074920"/>
            <a:ext cx="361188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455A64"/>
                </a:solidFill>
              </a:rPr>
              <a:t>Used by: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deepmimo-beam K=64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455A64"/>
                </a:solidFill>
              </a:rPr>
              <a:t>Beams span [-90, 90) degrees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89320"/>
            <a:ext cx="11567160" cy="7315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212121"/>
                </a:solidFill>
              </a:rPr>
              <a:t>The head learns decision boundaries — which feature patterns belong to which class. The encoder extracts the features.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Through backpropagation, each class develops its own "template" in the weight matrix. The head learns to match inputs to templates.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Head params are small (1K-16K) but critical — without training the head, all classes would score equally and predictions would be random.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How Heads Learn — The Training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Forward -&gt; Loss -&gt; Backward -&gt; Update. Repeat for every batch until the head specializes. (Slide 6/8)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697480" cy="1051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2E7D32"/>
                </a:solidFill>
              </a:rPr>
              <a:t>1. FORWARD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12121"/>
                </a:solidFill>
              </a:rPr>
              <a:t>Model receives ONLY the data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(no label). Data -&gt; Tokenize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-&gt; 8 Blocks -&gt; CLS -&gt; Head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-&gt; produces prediction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1531620"/>
            <a:ext cx="22860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005840"/>
            <a:ext cx="2697480" cy="105156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C62828"/>
                </a:solidFill>
              </a:rPr>
              <a:t>2. COMPUTE LOSS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212121"/>
                </a:solidFill>
              </a:rPr>
              <a:t>NOW the label is used: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compare prediction vs label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Label is the "answer key" —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model never sees it directly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97880" y="1531620"/>
            <a:ext cx="228600" cy="0"/>
          </a:xfrm>
          <a:prstGeom prst="line">
            <a:avLst/>
          </a:prstGeom>
          <a:ln w="2540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26480" y="1005840"/>
            <a:ext cx="2697480" cy="105156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03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303F9F"/>
                </a:solidFill>
              </a:rPr>
              <a:t>3. BACKWARD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Loss tells how wrong the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model was. Gradients flow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back through the network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to every trainable weight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60" y="1531620"/>
            <a:ext cx="228600" cy="0"/>
          </a:xfrm>
          <a:prstGeom prst="line">
            <a:avLst/>
          </a:prstGeom>
          <a:ln w="25400">
            <a:solidFill>
              <a:srgbClr val="303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52560" y="1005840"/>
            <a:ext cx="2697480" cy="105156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0695C"/>
                </a:solidFill>
              </a:rPr>
              <a:t>4. UPDATE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Weights are nudged to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reduce the loss. Over many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batches, the model learns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to predict correctly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286000"/>
            <a:ext cx="5669280" cy="155448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C62828"/>
                </a:solidFill>
              </a:rPr>
              <a:t>Classification: CrossEntropy Loss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Label: an integer (e.g. 3 = "BPSK")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Model output: K logits, one per class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Loss checks: "did the model give the highest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score to class 3?" If not, loss is high.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Effect: pushes correct class score UP,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212121"/>
                </a:solidFill>
              </a:rPr>
              <a:t>all other class logits 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86000"/>
            <a:ext cx="566928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00695C"/>
                </a:solidFill>
              </a:rPr>
              <a:t>Regression: MSE Loss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Label: coordinates (e.g. [7.9, 11.2, 1.2] m)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Model output: predicted coordinates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Loss checks: "how far is the prediction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from the true position?" Farther = higher loss.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Effect: pushes predicted coordinates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212121"/>
                </a:solidFill>
              </a:rPr>
              <a:t>closer to the true 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69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121"/>
                </a:solidFill>
              </a:rPr>
              <a:t>How the Head Learns Differently in Each Fine-Tuning 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389120"/>
            <a:ext cx="3657600" cy="23774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1565C0"/>
                </a:solidFill>
              </a:rPr>
              <a:t>LP — Head Learns Alone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Encoder is completely FROZEN.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features coming out of the encoder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are fixed — they cannot change.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head must find a decision boundary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in the existing feature space. It can only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learn to separate classes using what the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pretrained encoder already provides.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Analogy: drawing a dividing line through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points that are already placed on a map.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Can move the line, but not the 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389120"/>
            <a:ext cx="3657600" cy="23774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C62828"/>
                </a:solidFill>
              </a:rPr>
              <a:t>FT2 — Head + Top 2 Blocks Co-Adapt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Blocks 7-8 are UNFROZEN and train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alongside the head. They can reshape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features to make the head's job easier.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top blocks learn to push different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classes further apart in feature space,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giving the head cleaner separation.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Analogy: can move both the dividing line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AND rearrange the top layer of points.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Much more flexibility. Usually 1-3 pp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better than 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4389120"/>
            <a:ext cx="3794760" cy="2377440"/>
          </a:xfrm>
          <a:prstGeom prst="roundRect">
            <a:avLst/>
          </a:prstGeom>
          <a:solidFill>
            <a:srgbClr val="FFECB3"/>
          </a:solidFill>
          <a:ln w="1905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FF8F00"/>
                </a:solidFill>
              </a:rPr>
              <a:t>LoRA — Head + Subtle Shifts Everywhere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</a:rPr>
              <a:t>Tiny adapter matrices are inserted into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attention of ALL 8 blocks. Original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weights stay frozen, but attention shifts.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The encoder reads the SAME data but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pays attention differently — small nudges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455A64"/>
                </a:solidFill>
              </a:rPr>
              <a:t>at every layer add up to big changes.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Analogy: like adjusting the focus of 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camera at every level. Subtle but pervasive.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Reaches deeper than FT2 (all 8 blocks)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with 5x fewer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Three Fine-Tuning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How much of the pretrained encoder is allowed to change for a new task (Slide 7/8)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457200"/>
          </a:xfrm>
          <a:prstGeom prst="roundRect">
            <a:avLst/>
          </a:prstGeom>
          <a:solidFill>
            <a:srgbClr val="BBDEFB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 i="0">
                <a:solidFill>
                  <a:srgbClr val="1565C0"/>
                </a:solidFill>
              </a:rPr>
              <a:t>LP — Linear Probe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25295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5064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1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599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76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65C0"/>
                </a:solidFill>
              </a:rPr>
              <a:t>ALL 8 blocks FROZEN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3160"/>
            <a:ext cx="3108960" cy="36576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AD1457"/>
                </a:solidFill>
              </a:rPr>
              <a:t>Only the task head learns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926080"/>
            <a:ext cx="36576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455A64"/>
                </a:solidFill>
              </a:rPr>
              <a:t>What this tests: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Are the pretrained features already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good enough on their own? If LP works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well, the pretraining was effective.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1097280"/>
            <a:ext cx="3657600" cy="457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 i="0">
                <a:solidFill>
                  <a:srgbClr val="2E7D32"/>
                </a:solidFill>
              </a:rPr>
              <a:t>FT2 — Fine-Tune 2 Blocks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007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5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95544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5312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1691640"/>
            <a:ext cx="384048" cy="384048"/>
          </a:xfrm>
          <a:prstGeom prst="roundRect">
            <a:avLst/>
          </a:prstGeom>
          <a:solidFill>
            <a:srgbClr val="BBDEFB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1565C0"/>
                </a:solidFill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84848" y="1691640"/>
            <a:ext cx="384048" cy="384048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C62828"/>
                </a:solidFill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616" y="1691640"/>
            <a:ext cx="384048" cy="384048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C62828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1762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565C0"/>
                </a:solidFill>
              </a:rPr>
              <a:t>1-6: FROZEN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17627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62828"/>
                </a:solidFill>
              </a:rPr>
              <a:t>7-8: TRAIN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423160"/>
            <a:ext cx="3108960" cy="36576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AD1457"/>
                </a:solidFill>
              </a:rPr>
              <a:t>Head + blocks 7-8 learn (~1.6M params)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2926080"/>
            <a:ext cx="36576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455A64"/>
                </a:solidFill>
              </a:rPr>
              <a:t>What this tests: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Can the last 2 blocks adapt their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higher-level features while keeping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early general features intact?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1097280"/>
            <a:ext cx="3657600" cy="457200"/>
          </a:xfrm>
          <a:prstGeom prst="roundRect">
            <a:avLst/>
          </a:prstGeom>
          <a:solidFill>
            <a:srgbClr val="FFECB3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 i="0">
                <a:solidFill>
                  <a:srgbClr val="FF8F00"/>
                </a:solidFill>
              </a:rPr>
              <a:t>LoRA — Low-Rank Adaptation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6488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6255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6024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65792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59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25328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55096" y="1691640"/>
            <a:ext cx="384048" cy="384048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FF8F00"/>
                </a:solidFill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176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F00"/>
                </a:solidFill>
              </a:rPr>
              <a:t>ALL 8 FROZEN + LoRA adapters inside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2423160"/>
            <a:ext cx="3108960" cy="36576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AD1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AD1457"/>
                </a:solidFill>
              </a:rPr>
              <a:t>Head + LoRA adapters learn (~0.3M params)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79" y="2926080"/>
            <a:ext cx="36576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455A64"/>
                </a:solidFill>
              </a:rPr>
              <a:t>What this tests: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Can tiny adapter matrices achieve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similar adaptation with 5x fewer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parameters? (See Slide 8 for details)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160520"/>
            <a:ext cx="1133856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455A64"/>
                </a:solidFill>
              </a:rPr>
              <a:t>Trainable parameters:   LP = head only (~17K)   |   FT2 = head + 2 blocks (~1.6M)   |   LoRA = head + adapters (~279K)   |   Full model = 6.32M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800600"/>
            <a:ext cx="1133856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455A64"/>
                </a:solidFill>
              </a:rPr>
              <a:t>What is a "task head"?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A single output layer — Linear(256, K) — attached on top of the encoder.  Math: z = W * h + b where W = (K, 256).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Each task gets its own head. The head is ALWAYS trained from scratch, even when the encoder is frozen.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It translates the encoder's general 256-d features into a task-specific answer: a class label, a position, or a beam index.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6035040"/>
            <a:ext cx="11338560" cy="6400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2E7D32"/>
                </a:solidFill>
              </a:rPr>
              <a:t>Key insight: If LP (zero encoder adaptation) still performs well, it means the pretrained features are genuinely useful.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455A64"/>
                </a:solidFill>
              </a:rPr>
              <a:t>If FT2 or LoRA improve further, it means task-specific adaptation helps but the foundation is already strong.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</a:rPr>
              <a:t>LoRA Deep Dive: How Low-Rank Adaptation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909C"/>
                </a:solidFill>
              </a:rPr>
              <a:t>What "projection" and "rank" mean, and why LoRA is so parameter-efficient (Slide 8/8)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486400" cy="13716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1565C0"/>
                </a:solidFill>
              </a:rPr>
              <a:t>The problem: full weight matrices are huge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Each attention block has Query (Q) and Value (V) projections.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Each is a 256 x 256 matrix = 65,536 parameters.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Updating all of them is expensive and risks forgetting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what the model learned during pretraining.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1371600"/>
          </a:xfrm>
          <a:prstGeom prst="roundRect">
            <a:avLst/>
          </a:prstGeom>
          <a:solidFill>
            <a:srgbClr val="FFECB3"/>
          </a:solidFill>
          <a:ln w="1905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FF8F00"/>
                </a:solidFill>
              </a:rPr>
              <a:t>LoRA solution: add a small low-rank correction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Keep the original 256x256 matrix FROZEN.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Add two tiny matrices alongside it that learn a correction.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The correction has low "rank" -- it squeezes through a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small bottleneck, keeping the number of parameters tiny.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2121"/>
                </a:solidFill>
              </a:rPr>
              <a:t>Step-by-step: what happens inside one LoRA adapter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291840"/>
            <a:ext cx="1920240" cy="1371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565C0"/>
                </a:solidFill>
              </a:rPr>
              <a:t>Input Vector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455A64"/>
                </a:solidFill>
              </a:rPr>
              <a:t>256 numbers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(one token)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977639"/>
            <a:ext cx="365760" cy="0"/>
          </a:xfrm>
          <a:prstGeom prst="line">
            <a:avLst/>
          </a:prstGeom>
          <a:ln w="25400">
            <a:solidFill>
              <a:srgbClr val="F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3291840"/>
            <a:ext cx="1920240" cy="1371600"/>
          </a:xfrm>
          <a:prstGeom prst="roundRect">
            <a:avLst/>
          </a:prstGeom>
          <a:solidFill>
            <a:srgbClr val="FFECB3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FF8F00"/>
                </a:solidFill>
              </a:rPr>
              <a:t>Matrix A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FF8F00"/>
                </a:solidFill>
              </a:rPr>
              <a:t>256 -&gt; 32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"Project DOWN"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Compress to 32 dims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59" y="3977639"/>
            <a:ext cx="365761" cy="0"/>
          </a:xfrm>
          <a:prstGeom prst="line">
            <a:avLst/>
          </a:prstGeom>
          <a:ln w="25400">
            <a:solidFill>
              <a:srgbClr val="F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46320" y="3291840"/>
            <a:ext cx="1920240" cy="137160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5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F57F17"/>
                </a:solidFill>
              </a:rPr>
              <a:t>Bottleneck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F57F17"/>
                </a:solidFill>
              </a:rPr>
              <a:t>32 numbers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This is the "rank"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(the narrow point)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66559" y="3977639"/>
            <a:ext cx="365761" cy="0"/>
          </a:xfrm>
          <a:prstGeom prst="line">
            <a:avLst/>
          </a:prstGeom>
          <a:ln w="25400">
            <a:solidFill>
              <a:srgbClr val="F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32320" y="3291840"/>
            <a:ext cx="1920240" cy="1371600"/>
          </a:xfrm>
          <a:prstGeom prst="roundRect">
            <a:avLst/>
          </a:prstGeom>
          <a:solidFill>
            <a:srgbClr val="FFECB3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FF8F00"/>
                </a:solidFill>
              </a:rPr>
              <a:t>Matrix B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FF8F00"/>
                </a:solidFill>
              </a:rPr>
              <a:t>32 -&gt; 256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"Project BACK UP"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Expand to 256 dims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2560" y="3977639"/>
            <a:ext cx="365760" cy="0"/>
          </a:xfrm>
          <a:prstGeom prst="line">
            <a:avLst/>
          </a:prstGeom>
          <a:ln w="25400">
            <a:solidFill>
              <a:srgbClr val="F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18320" y="3291840"/>
            <a:ext cx="2377440" cy="137160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C62828"/>
                </a:solidFill>
              </a:rPr>
              <a:t>Small Correction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 i="0">
                <a:solidFill>
                  <a:srgbClr val="C62828"/>
                </a:solidFill>
              </a:rPr>
              <a:t>256 numbers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Added to the frozen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78909C"/>
                </a:solidFill>
              </a:rPr>
              <a:t>original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937760"/>
            <a:ext cx="1133856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FF8F00"/>
                </a:solidFill>
              </a:rPr>
              <a:t>Output  =  (Frozen original result)  +  (Small learned correction from A and B)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455A64"/>
                </a:solidFill>
              </a:rPr>
              <a:t>The original weights are NEVER modified. The correction is learned on top and added to the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623560"/>
            <a:ext cx="5486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455A64"/>
                </a:solidFill>
              </a:rPr>
              <a:t>Parameter count per Q or V projection: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1565C0"/>
                </a:solidFill>
              </a:rPr>
              <a:t>Full matrix:  256 x 256 = 65,536 parameters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FF8F00"/>
                </a:solidFill>
              </a:rPr>
              <a:t>LoRA (A+B):  256x32 + 32x256 = 16,384 parameters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1">
                <a:solidFill>
                  <a:srgbClr val="78909C"/>
                </a:solidFill>
              </a:rPr>
              <a:t>That is 4x fewer parameters per projection.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623560"/>
            <a:ext cx="5486400" cy="10058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 i="0">
                <a:solidFill>
                  <a:srgbClr val="455A64"/>
                </a:solidFill>
              </a:rPr>
              <a:t>Why "low-rank" works: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 i="0">
                <a:solidFill>
                  <a:srgbClr val="455A64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The assumption is that task-specific adaptation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lives in a much smaller subspace than the full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256 dimensions. Rank 32 is enough to capture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455A64"/>
                </a:solidFill>
              </a:rPr>
              <a:t>what needs to change for a new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