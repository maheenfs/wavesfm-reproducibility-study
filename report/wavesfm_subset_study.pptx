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Modulation Subset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BBDEFB"/>
                </a:solidFill>
              </a:rPr>
              <a:t>How Label-Efficient Is WavesFM?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CAF9"/>
                </a:solidFill>
              </a:rPr>
              <a:t>A reduced-data follow-up to the WavesFM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Maheen Fatima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EFB"/>
                </a:solidFill>
              </a:rPr>
              <a:t>Department of Electrical and Software Engineering, University of Calgary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0A4AE"/>
                </a:solidFill>
              </a:rPr>
              <a:t>April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212080"/>
            <a:ext cx="9445752" cy="1280160"/>
          </a:xfrm>
          <a:prstGeom prst="roundRect">
            <a:avLst/>
          </a:prstGeom>
          <a:solidFill>
            <a:srgbClr val="0A367A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5 subset levels  |  2 tasks  |  3 modes  |  3 seeds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BBDEFB"/>
                </a:solidFill>
              </a:rPr>
              <a:t>1%, 3%, 5%, 10%, 50% of training data  vs  full-data baseline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CC80"/>
                </a:solidFill>
              </a:rPr>
              <a:t>90 training runs   |   17.0 GPU hours on RTX 5090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Motivation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 foundation model is only useful if it transfers under realistic label budgets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The Question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The main reproduction used the FULL downstream training split for every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task. That is the easy regime — hundreds of thousands of labeled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hide a lot of weakness in the pretrained encoder.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Real wireless deployments rarely have that much labeled data per site.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749039"/>
            <a:ext cx="11430000" cy="16459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What This Study Does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Two modulation tasks (RML22 and RadCom) are fine-tuned with only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1, 3, 5, 10, and 50 percent of their training splits — keeping every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other factor identical to the full-data reproduction.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E65100"/>
                </a:solidFill>
              </a:rPr>
              <a:t>Separation From Reproduction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These runs are NOT part of the WavesFM reproduction verdicts. They live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their own session roots and are reported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WavesFM — Architecture Overview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 shared 8-block ViT that handles both raw IQ and image-like wireless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One encoder, two input adapters, many tasks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   IQ adapter (1D conv, length-16 segments)        ──▶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                                                                   Shared 8-block ViT      ──▶   Linear head   ──▶  K classes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   Vision adapter (16x16 patch embedding)         ──▶  (256-d, 8 heads, 1024 MLP)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60707B"/>
                </a:solidFill>
              </a:rPr>
              <a:t>Encoder: 6.32M params total. Both adapters output 256-d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749039"/>
            <a:ext cx="5669280" cy="2834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</a:rPr>
              <a:t>Why this matters here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Both subset tasks (RML22, RadCom) are RAW IQ.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The IQ adapter and the shared ViT carry all of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learned representations.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A subset experiment essentially asks: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how many labels does the head need before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the encoder is fully exploited?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3749039"/>
            <a:ext cx="5669280" cy="28346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A1B9A"/>
                </a:solidFill>
              </a:rPr>
              <a:t>Model size context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Encoder: 6.32M params  (256 dim, 8 blocks)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Decoder discarded after pretraining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Head: Linear(256, K) — 11K=11 for RML22, K=9 for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RadCom — adds &lt; 3K params.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Total trainable per mode (next slides):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1B9A"/>
                </a:solidFill>
              </a:rPr>
              <a:t>LP ~17K   FT2 ~1.6M   LoRA ~279K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Pretraining Phase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Done once by the authors — the checkpoint wavesfm-v1p0.pth is reused for everything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3774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Masked Wireless Modeling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70% of input tokens are randomly masked.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The encoder + a small decoder learn to reconstruct the missing tokens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directly from the surviving tokens.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Data: 6,400 unlabeled samples (3,200 spectrograms + 3,200 IQ).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Schedule: 800 epochs.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</a:rPr>
              <a:t>Output: wavesfm-v1p0.pth (29.8 MB encoder weights).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1143000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What this study assumes about pretraining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The pretrained weights are taken AS-IS from the public release.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No re-pretraining, no extra masking, no additional self-supervision.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Every subset run loads the same checkpoint as a starting point — so any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difference between subsets is purely due to the amount of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LABELED downstream data the head and adapted blocks see.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Three Transfer Modes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How the pretrained encoder gets adapted to each downstream task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3657600" cy="4937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E7D32"/>
                </a:solidFill>
              </a:rPr>
              <a:t>LP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37474F"/>
                </a:solidFill>
              </a:rPr>
              <a:t>Linear Probe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Encoder fully frozen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~17K trainable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0.3% trainable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37474F"/>
                </a:solidFill>
              </a:rPr>
              <a:t>Tests pretrained features directly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657600" cy="4937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1F4E79"/>
                </a:solidFill>
              </a:rPr>
              <a:t>FT2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37474F"/>
                </a:solidFill>
              </a:rPr>
              <a:t>Partial Fine-Tune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Last 2 of 8 blocks unfrozen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~1.6M trainable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25% trainable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37474F"/>
                </a:solidFill>
              </a:rPr>
              <a:t>Allows top-layer feature adaptation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80160"/>
            <a:ext cx="3657600" cy="493776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6A1B9A"/>
                </a:solidFill>
              </a:rPr>
              <a:t>LoRA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37474F"/>
                </a:solidFill>
              </a:rPr>
              <a:t>Low-Rank Adapters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Encoder frozen + rank-32 adapters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~279K trainable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6A1B9A"/>
                </a:solidFill>
              </a:rPr>
              <a:t>4.4% trainable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37474F"/>
                </a:solidFill>
              </a:rPr>
              <a:t>Efficient adaptation, ~5x fewer params than FT2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6355080"/>
            <a:ext cx="11430000" cy="4114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All three modes share the same optimizer (AdamW), schedule (cosine + 5 warmup epochs), batch size (2048), and 50-epoch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Mode 1 — LP (Linear Probe)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Encoder frozen entirely. Only the task head and input projections train.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669280" cy="53035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What is frozen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All 8 ViT blocks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All attention weights (Q, K, V, output projections)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All MLP weights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All layer norms inside the encoder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What trains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The Linear(256, K) task head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The Conditional LayerNorm gain/bias for the chosen task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Modality-specific input projection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57784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Trainable parameter count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~ 17,000 parameters total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37474F"/>
                </a:solidFill>
              </a:rPr>
              <a:t>= 0.3% of the 6.32M encoder size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That is the smallest budget of all three modes.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577840" cy="26517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Why LP is the most informative mode for this study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LP cannot adapt the encoder. Whatever PCA it reaches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is a direct measurement of how good the pretrained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representations already are.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Strong LP results at SMALL subsets are the most direct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evidence that the pretraining claim 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Mode 2 — FT2 (Partial Fine-Tune)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First 6 of 8 ViT blocks frozen. Last 2 blocks plus head and projections train.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669280" cy="53035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What is frozen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Blocks 0 through 5 (the first 6 ViT blocks)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All weights inside those 6 blocks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What trains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Blocks 6 and 7 (the last 2 ViT blocks)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60707B"/>
                </a:solidFill>
              </a:rPr>
              <a:t>  ↳ attention Q/K/V/Out, MLP, LayerNorms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Conditional LayerNorm gain/bias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Modality-specific input projection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Linear(256, K) task 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57784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Trainable parameter count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~ 1.6 million parameters total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37474F"/>
                </a:solidFill>
              </a:rPr>
              <a:t>= 25% of the 6.32M encoder size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Largest budget of all three modes.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577840" cy="26517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65100"/>
                </a:solidFill>
              </a:rPr>
              <a:t>Why FT2 is interesting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It allows the encoder to adapt task-specific high-level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features without forgetting low-level pretrained ones.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Risk: at very small subsets the extra trainable params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can OVERFIT the few labeled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Mode 3 — LoRA (Low-Rank Adapters)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Encoder frozen. Rank-32 (alpha 64) adapters added on Q and V of every attention block.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669280" cy="53035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A1B9A"/>
                </a:solidFill>
              </a:rPr>
              <a:t>What is frozen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All original encoder weights (every block)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A1B9A"/>
                </a:solidFill>
              </a:rPr>
              <a:t>What trains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LoRA matrices A, B injected into Q-projection of all 8 blocks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LoRA matrices A, B injected into V-projection of all 8 blocks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60707B"/>
                </a:solidFill>
              </a:rPr>
              <a:t>  ↳ rank r = 32   alpha = 64   scale = alpha / r = 2.0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Conditional LayerNorm gain/bias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Modality-specific input projection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Linear(256, K) task 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57784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Trainable parameter count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A1B9A"/>
                </a:solidFill>
              </a:rPr>
              <a:t>~ 279,000 parameters total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37474F"/>
                </a:solidFill>
              </a:rPr>
              <a:t>= 4.4% of the 6.32M encoder size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5x fewer trainable params than FT2.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577840" cy="2651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</a:rPr>
              <a:t>Why LoRA usually wins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Adapts EVERY block (not just the last 2 like FT2),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but with a tiny low-rank perturbation that resists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overfitting.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LoRA leads RML22 at every subset and matches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FT2 on RadCom — see results sections.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Experiment Design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Five subset levels × two tasks × three modes × three seeds = 90 training runs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669280" cy="53035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Held FIXED (matches main reproduction)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Pretrained checkpoint: wavesfm-v1p0.pth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Model: vit_multi_small + Conditional LN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Optimizer: AdamW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Schedule: cosine + 5 warmup epochs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Batch size: 2048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Epochs: 50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Validation split: 20% (always full)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Loss: plain cross-entropy  (no weights, no smoothing)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Best metric: PCA on validation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Hardware: NVIDIA RTX 5090 on ngwn06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577840" cy="53035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Factors VARIED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Subset fraction: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  1%, 3%, 5%, 10%, 50%   (5 levels)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Task: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  rml, radcom   (2)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Mode: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  lp, ft2, lora   (3)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Seed: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  0, 1, 2   (3)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Total cells: 30   |   Total runs: 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Subset Sampling Protocol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How the smaller training pools are drawn from the full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640080" cy="11887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1069848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Load full cache &amp; split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The HDF5 cache is loaded in full. A deterministic 80/20 train/validation split is drawn from a seeded PRNG.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560320"/>
            <a:ext cx="640080" cy="11887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1069848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Set validation aside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The validation split is preserved exactly as-is for every subset run. Every PCA number reported is computed against the full validation pool.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79"/>
            <a:ext cx="640080" cy="11887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840479"/>
            <a:ext cx="1069848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Stratified subset by class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A subset of the training split is then drawn STRATIFIED BY CLASS — at 1% this still gives ~336 RML samples or ~504 RadCom samples per class.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120640"/>
            <a:ext cx="640080" cy="11887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120640"/>
            <a:ext cx="1069848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Three seeds per cell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Seeds 0, 1, 2 are run per (task, mode, subset) triple. Reported means and stds use these three seeds.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6400800"/>
            <a:ext cx="1143000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1">
                <a:solidFill>
                  <a:srgbClr val="E65100"/>
                </a:solidFill>
              </a:rPr>
              <a:t>Implementation: --train-subset-fraction in wavesfm/main_finetune.py, with stratified sampling in wavesfm/data.py.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Train / Validation Split — Concrete Numbers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 deterministic 80 / 20 random split, drawn from a seeded PRNG before any subsetting happens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36576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How the split is built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1.  Open the HDF5 cache; total = number of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2.  val_size = floor( total × 0.2 )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     train_size = total − val_size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3.  gen = torch.Generator().manual_seed(seed + 1)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4.  random_split(dataset, [train_size, val_size],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                                                 generator=gen)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Source: wavesfm/data.py:402-410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Split is PLAIN RANDOM for rml and radcom (no stratified-split flag).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Both tasks are perfectly class-balanced, so the random split 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approximately balanced by construction.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669280" cy="3657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Concrete numbers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RML22  (total = 462,000 samples)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val_size  = floor(462,000 × 0.2)  =  92,400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train_size = 462,000 − 92,400      =  369,600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per class  ≈ 33,600 train  +  8,400 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RadCom OTA  (total = 567,000 samples)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val_size  = floor(567,000 × 0.2)  =  113,400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train_size = 567,000 − 113,400    =  453,600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per class  ≈ 50,400 train  +  12,600 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All three seeds (0, 1, 2) draw three DIFFERENT splits because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</a:rPr>
              <a:t>seeded generator is seeded with seed + 1.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983480"/>
            <a:ext cx="11430000" cy="1554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12121"/>
                </a:solidFill>
              </a:rPr>
              <a:t>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Imagine a deck of 462,000 RML22 cards. Shuffle once with a fixed shuffle (seed 1). Deal the first 369,600 cards into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"train" pile and the last 92,400 into the "validation" pile. Same recipe, same seed → the same two piles every time.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The validation pile is then locked: every subset run for that seed uses exactly those 92,400 samples for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Stratified Subset — Worked Walk-Through (RML22 at 1%)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How the smallest training pool is built — class-balanced even at the most extreme cut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7680960" cy="4572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Step-by-step  (RML22, 1% subset, seed 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Starting point:  train_ds with 369,600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                            11 classes  ×  ≈33,600 samples each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Step 1.  Compute requested subset size: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   subset_size = round(369,600 × 0.01)  =  3,696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Step 2.  Group train indices by class: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class_to_indices = { 0: [...33,600 ids...], 1: [...], ..., 10: [...]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Step 3.  Take 1 random sample from EACH class first  (guaranteed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             coverage of all 11 classes — never drops a class).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selected after step 3:  11 ids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Step 4.  Fill remaining quota uniformly from the remaining pool: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remaining = 3,696 − 11 = 3,685   (drawn from the 369,589 leftovers)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Step 5.  Final shuffle (still seeded) → final 3,696-id Subset.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1188720"/>
            <a:ext cx="3657600" cy="45720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Final per-class breakdown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At 1% the 3,696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split roughly evenly: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   ≈ 336 samples / class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At larger subsets: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3%   →   ~1,008 / class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5%   →   ~1,680 / class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10%  →   ~3,360 / class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50%  →   ~16,800 / class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Source: data.py:288-326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97880"/>
            <a:ext cx="11430000" cy="7772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Even at 1% the model is guaranteed to see SOME samples from every modulation class — no class is silently dropped. The encoder + head therefore have a fair chance to learn all 11 classes (or all 9 in the RadCom case).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Loss Function — Cross-Entropy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For both rml and radcom: plain unweighted cross-entropy (class weights and label smoothing are NOT enabled)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430000" cy="13258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Per-sample loss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L_i  =  - log ( exp(z[y_i])  /  Σ_k exp(z[k]) 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z = K logits from the linear head     y_i = ground-truth class index     batch loss = mean over the batch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606040"/>
            <a:ext cx="5669280" cy="40233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Worked example  (K = 3 classes)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Suppose the model emits logits  z = [2.0, 0.5, 0.1]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and the true label is class 0.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Step 1 — softmax: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exp(z)        = [7.39, 1.65, 1.11]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sum           = 10.15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softmax(z)    = [0.728, 0.162, 0.110]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Step 2 — pick prob of true class y=0: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p_true = 0.728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Step 3 — loss: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  L = -log(0.728) ≈ 0.317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If true class had been 2 instead, p_true = 0.110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and L = -log(0.110) ≈ 2.21 — about 7x bigger.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606040"/>
            <a:ext cx="5669280" cy="4023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12121"/>
                </a:solidFill>
              </a:rPr>
              <a:t>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Cross-entropy asks: "how confident was the model in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correct answer?". A confident-and-right model gets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small loss; a confident-and-wrong one gets a big loss.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Reasonable target ranges (rough):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  L ≈ log(K) means random guessing  (≈2.4 for K=11, ≈2.2 for K=9)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  L &lt; 1 means clearly above chance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  L &lt; 0.3 means very confident, mostly correct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Actual code path  (main_finetune.py:268-276)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criterion = nn.CrossEntropyLoss()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—  no weight argument (class_weights flag OFF)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—  no label_smoothing (smoothing flag not set)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2E7D32"/>
                </a:solidFill>
              </a:rPr>
              <a:t>Both rml and radcom are perfectly class-balanced, so plain CE is the right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2E7D32"/>
                </a:solidFill>
              </a:rPr>
              <a:t>default — no per-class re-weighting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Accuracy Metrics — How Acc@1, Acc@3 and PCA Are Computed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is the primary metric for rml and radcom and the basis for best-checkpoint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24688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Acc@1  and  Acc@3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For each sample, take the k highest-scoring predicted classes.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sample is "correct@k" if the true class is in those top 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Acc@k  =  (# correct@k)  /  N  × 100%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Source: timm.utils.accuracy  (engine.py:129).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Acc@1 = standard accuracy.   Acc@3 = "is true class in top 3?".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669280" cy="24688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PCA  —  Per-Class Accuracy   (PRIMARY)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For each class k: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   recall[k]  =  correct_k  /  total_k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Then average over all K classes: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   PCA  =  mean_k ( recall[k] )  × 100%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engine.py:142-146: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7474F"/>
                </a:solidFill>
              </a:rPr>
              <a:t>   pca = (per_class_correct / per_class_total * 100).mean()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749039"/>
            <a:ext cx="1143000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Worked example  —  why PCA is not the same as Acc@1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10 validation samples across 3 classes:  6 of class A, 3 of class B, 1 of class 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Predictions:  A→A all 6 correct.   B→B 1 correct, B→A 2 wrong.   C→A 1 wrong.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Acc@1  =  (6 + 1 + 0) / 10  =  70%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PCA       =  mean( 6/6, 1/3, 0/1 )  =  mean( 100%, 33.3%, 0% )  =  44.4%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Plain English: Acc@1 looks healthy because class A is large. PCA exposes that class C is failing entirely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and class B is weak. PCA punishes the model for being uneven — that is exactly why it is the chosen metric.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6035040"/>
            <a:ext cx="11430000" cy="6400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1">
                <a:solidFill>
                  <a:srgbClr val="FFFFFF"/>
                </a:solidFill>
              </a:rPr>
              <a:t>Best-checkpoint rule  (main_finetune.py:299):   best_key = "pca"   |   better = (cur &gt; best)   |   the epoch with the highest val PCA is saved.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PCA in Plain English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 friendlier explanation of the same metric — useful before reading any results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430000" cy="1554480"/>
          </a:xfrm>
          <a:prstGeom prst="roundRect">
            <a:avLst/>
          </a:prstGeom>
          <a:solidFill>
            <a:srgbClr val="2E7D32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</a:rPr>
              <a:t>PCA  =  "the average of how often the model gets each class right".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FFFFFF"/>
                </a:solidFill>
              </a:rPr>
              <a:t>Every class counts equally, no matter how many samples it has.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926080"/>
            <a:ext cx="5669280" cy="36576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Analogy  —  a school exam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Imagine 11 students from 11 different classes (one per modulation).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Acc@1 grades the model based on  TOTAL marks scored across 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11 students. If 1 student is huge and easy and 10 are small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hard, the model can ace the easy one and still look good.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PCA grades the model on the AVERAGE of each student's individual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score. To do well the model has to help every student — including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the small / hard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926080"/>
            <a:ext cx="5669280" cy="3657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65100"/>
                </a:solidFill>
              </a:rPr>
              <a:t>How to read a PCA number quickly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PCA = 90% on RML22  (11 classes)  →  on average, each modulation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     class is recognised correctly 90% of the time.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PCA = 9%  →  random guessing (≈ 1/11).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PCA = 30%  →  better than random, but most classes still mostly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     wrong.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PCA = 70%  →  most classes mostly right, a few still hard.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PCA = 95%+  →  the model is essentially solved on this task.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E65100"/>
                </a:solidFill>
              </a:rPr>
              <a:t>Best-checkpoint selection picks the epoch with the highest val PCA.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Reading the PCA Numbers — What Each Range Means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Plain-English reference — useful when scanning results tables in later sections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377440" cy="86868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CHANCE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188720"/>
            <a:ext cx="3108960" cy="86868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62828"/>
                </a:solidFill>
              </a:rPr>
              <a:t>PCA ≈ 9% (RML22)  /  ≈ 11% (RadCom)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85216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Random guessing — no learning has happened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2377440" cy="86868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WEAK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103120"/>
            <a:ext cx="31089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PCA  20% –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03120"/>
            <a:ext cx="585216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Some classes are being separated; many are confused. Far below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237744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MODERATE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3017520"/>
            <a:ext cx="3108960" cy="8686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PCA  40% –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017520"/>
            <a:ext cx="585216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Recognisable structure but several classes still mix. Where most RML22 subset runs land.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931920"/>
            <a:ext cx="2377440" cy="86868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931920"/>
            <a:ext cx="3108960" cy="8686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1B9A"/>
                </a:solidFill>
              </a:rPr>
              <a:t>PCA  70% – 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931920"/>
            <a:ext cx="585216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Most classes correct most of the time. Where small RadCom subsets land.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46320"/>
            <a:ext cx="2377440" cy="8686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NEAR-BASELINE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846320"/>
            <a:ext cx="31089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PCA  &gt; 90%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846320"/>
            <a:ext cx="585216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Within striking distance of full-data performance. Most RadCom subsets and RML22 at 50%.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97880"/>
            <a:ext cx="11430000" cy="7772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Quick worked check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A 0.5 PCA difference between two seeds = noise.   A 5+ PCA gap = a real effect.   A 30 PCA gap = the model is doing something fundamentally different.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Training Step — One Mini-Batch (Inside an Epoch)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What happens for every batch of 2,048 samples drawn from the train loader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1737360" cy="1371600"/>
          </a:xfrm>
          <a:prstGeom prst="roundRect">
            <a:avLst/>
          </a:prstGeom>
          <a:solidFill>
            <a:srgbClr val="E8F0FE"/>
          </a:solidFill>
          <a:ln w="228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1.  DRAW BATCH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7474F"/>
                </a:solidFill>
              </a:rPr>
              <a:t>(samples, targets)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74F"/>
                </a:solidFill>
              </a:rPr>
              <a:t>shape (2048, 2, 1, 128)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move to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280160"/>
            <a:ext cx="1737360" cy="1371600"/>
          </a:xfrm>
          <a:prstGeom prst="roundRect">
            <a:avLst/>
          </a:prstGeom>
          <a:solidFill>
            <a:srgbClr val="E8F0FE"/>
          </a:solidFill>
          <a:ln w="228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2.  LR SCHEDULE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apply cosine LR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37474F"/>
                </a:solidFill>
              </a:rPr>
              <a:t>  warmup for 5 ep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37474F"/>
                </a:solidFill>
              </a:rPr>
              <a:t>  cosine decay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1737360" cy="1371600"/>
          </a:xfrm>
          <a:prstGeom prst="roundRect">
            <a:avLst/>
          </a:prstGeom>
          <a:solidFill>
            <a:srgbClr val="E8F0FE"/>
          </a:solidFill>
          <a:ln w="228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3.  FORWARD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outputs = model(samples)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37474F"/>
                </a:solidFill>
              </a:rPr>
              <a:t>shape (2048, K)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autocast on CUDA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1737360" cy="137160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4.  COMPUTE LOSS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loss = criterion(outputs,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      targets)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2E7D32"/>
                </a:solidFill>
              </a:rPr>
              <a:t>plain cross-entropy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280160"/>
            <a:ext cx="1737360" cy="137160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5.  TRACK Acc@1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acc1 = top-1 accuracy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37474F"/>
                </a:solidFill>
              </a:rPr>
              <a:t>  on this batch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AverageMeter.update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7" y="1783080"/>
            <a:ext cx="329184" cy="36576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224527" y="1783080"/>
            <a:ext cx="329184" cy="36576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419088" y="1783080"/>
            <a:ext cx="329184" cy="36576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613648" y="1783080"/>
            <a:ext cx="329184" cy="36576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0515600" y="2697480"/>
            <a:ext cx="365760" cy="457200"/>
          </a:xfrm>
          <a:prstGeom prst="down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0" y="3383280"/>
            <a:ext cx="1737360" cy="137160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5100"/>
                </a:solidFill>
              </a:rPr>
              <a:t>6.  BACKWARD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scaler.scale(loss /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accum_steps).backward()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AMP grad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383280"/>
            <a:ext cx="1737360" cy="137160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5100"/>
                </a:solidFill>
              </a:rPr>
              <a:t>7.  GRAD CLIP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clip_grad_norm_(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params, max_norm)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only after every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383280"/>
            <a:ext cx="1737360" cy="137160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5100"/>
                </a:solidFill>
              </a:rPr>
              <a:t>8.  OPTIMIZER STEP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scaler.step(optimizer)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37474F"/>
                </a:solidFill>
              </a:rPr>
              <a:t>AdamW with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  layer-decay LR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383280"/>
            <a:ext cx="1737360" cy="137160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5100"/>
                </a:solidFill>
              </a:rPr>
              <a:t>9.  ZERO GRADS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optimizer.zero_grad(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set_to_none=True)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0707B"/>
                </a:solidFill>
              </a:rPr>
              <a:t>ready for next 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1737360" cy="1371600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10.  LOG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every print_freq steps: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loss, acc1, lr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</p:txBody>
      </p:sp>
      <p:sp>
        <p:nvSpPr>
          <p:cNvPr id="18" name="Left Arrow 17"/>
          <p:cNvSpPr/>
          <p:nvPr/>
        </p:nvSpPr>
        <p:spPr>
          <a:xfrm>
            <a:off x="8705088" y="3886200"/>
            <a:ext cx="329184" cy="365760"/>
          </a:xfrm>
          <a:prstGeom prst="lef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6510528" y="3886200"/>
            <a:ext cx="329184" cy="365760"/>
          </a:xfrm>
          <a:prstGeom prst="lef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4315968" y="3886200"/>
            <a:ext cx="329184" cy="365760"/>
          </a:xfrm>
          <a:prstGeom prst="lef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2121408" y="3886200"/>
            <a:ext cx="329184" cy="365760"/>
          </a:xfrm>
          <a:prstGeom prst="lef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5029200"/>
            <a:ext cx="11430000" cy="1554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Implementation: train_one_epoch in engine.py:18-96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Steps 6-9 only execute when (step + 1) % accum_steps == 0 — gradient accumulation lets the effective batch size be larger than what fits in memory.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AMP autocast is enabled on CUDA only (MPS/CPU fall back to fp32). The train loop iterates this 10-step sequence once per mini-batch, until the train_loader is exhausted (one epoch).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Full Training Loop — All 50 Epochs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The outer loop wrapped around the per-step flow — same for every (task, mode, subset, seed)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1430000" cy="9601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1.   INITIALIZE   (once per run)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Load wavesfm-v1p0.pth → freeze per mode (LP / FT2 / LoRA) → build train+val DataLoaders → apply --train-subset-fraction → criterion (plain cross-entropy) → AdamW with layer-decay → cosine LR schedule.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43600" y="2103120"/>
            <a:ext cx="365760" cy="320040"/>
          </a:xfrm>
          <a:prstGeom prst="down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11430000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2.   FOR  epoch = 0 .. 49   (50 epochs)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63240"/>
            <a:ext cx="3657600" cy="2011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2a.  TRAIN EPOCH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Iterate the train_loader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one batch at a time and run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10-step per-mini-batch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flow from the previous slide.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</a:rPr>
              <a:t>Output: train.loss, train.acc1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0520" y="3931920"/>
            <a:ext cx="320040" cy="32004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3063240"/>
            <a:ext cx="3657600" cy="20116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2b.  EVALUATE ON 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model.eval() + no_grad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Iterate val_loader, compute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loss, Acc@1, Acc@3, and PCA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over the FULL validation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split (always 100%).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65100"/>
                </a:solidFill>
              </a:rPr>
              <a:t>Output: val.{loss,acc1,acc3,pca}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29600" y="3931920"/>
            <a:ext cx="320040" cy="32004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3063240"/>
            <a:ext cx="3200400" cy="20116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1B9A"/>
                </a:solidFill>
              </a:rPr>
              <a:t>2c.  CHECKPOINT?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IF val.pca &gt; best_pca: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save checkpoint atomically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(model+optim+RNG)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Append epoch row to log.txt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(JSON line, fsynced).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A1B9A"/>
                </a:solidFill>
              </a:rPr>
              <a:t>best_key="pca"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5212080"/>
            <a:ext cx="365760" cy="320040"/>
          </a:xfrm>
          <a:prstGeom prst="down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5577840"/>
            <a:ext cx="1143000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37474F"/>
                </a:solidFill>
              </a:rPr>
              <a:t>Loop back — increment epoch and repeat from 2a until epoch == 49.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6126480"/>
            <a:ext cx="365760" cy="320040"/>
          </a:xfrm>
          <a:prstGeom prst="down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6492240"/>
            <a:ext cx="11430000" cy="3657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</a:rPr>
              <a:t>3.   AFTER 50 EPOCHS:  best checkpoint kept (the one with highest val.pca). Per-epoch log.txt is the source for plots and summaries.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Modulation?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Why both subset tasks are about classifying modulation — and why that matters in wireless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430000" cy="1554480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</a:rPr>
              <a:t>Modulation = the recipe for stamping information onto a radio wave.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FFFFFF"/>
                </a:solidFill>
              </a:rPr>
              <a:t>A bare carrier wave carries nothing — modulation is what lets it carry voice, video, or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926080"/>
            <a:ext cx="5669280" cy="3657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</a:rPr>
              <a:t>Three knobs to twist on a wave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121"/>
                </a:solidFill>
              </a:rPr>
              <a:t>AMPLITUDE  →  make the wave taller or shorter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"AM radio" works this way; in RML22 see PAM4, AM-DSB, AM-SSB.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121"/>
                </a:solidFill>
              </a:rPr>
              <a:t>FREQUENCY  →  bend the wave faster or slower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"FM radio" works this way; in RML22 see CPFSK, GFSK, WBFM.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121"/>
                </a:solidFill>
              </a:rPr>
              <a:t>PHASE  →  shift WHEN the wave peaks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used by Wi-Fi, 4G, 5G, satellites; in RML22 see BPSK, QPSK, 8PSK.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1">
                <a:solidFill>
                  <a:srgbClr val="2E7D32"/>
                </a:solidFill>
              </a:rPr>
              <a:t>Twist two knobs at once  →  QAM (used by cable modems and Wi-Fi).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926080"/>
            <a:ext cx="5669280" cy="3657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65100"/>
                </a:solidFill>
              </a:rPr>
              <a:t>Why CLASSIFY modulation in the first place?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A receiver can only DECODE a signal once it knows what modulation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was used. Misclassify and the bits come out as garbage.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121"/>
                </a:solidFill>
              </a:rPr>
              <a:t>Use cases: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Cognitive radios — scan the band and pick the right demod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Spectrum monitoring — detect rogue or unauthorised emitters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Military / SIGINT — recognise unknown emitters from raw IQ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6G dynamic spectrum — share radio with whoever is around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65100"/>
                </a:solidFill>
              </a:rPr>
              <a:t>That is what a "wireless foundation model" is supposed to do well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65100"/>
                </a:solidFill>
              </a:rPr>
              <a:t>and the subset study asks how cheaply that capability transfers.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an IQ Sample Is — Common to RML22 and RadCom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Both subset tasks operate on the same kind of tensor — only the source dataset differs</a:t>
            </a:r>
          </a:p>
        </p:txBody>
      </p:sp>
      <p:pic>
        <p:nvPicPr>
          <p:cNvPr id="3" name="Picture 2" descr="iq_tensor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9784080" cy="411075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65760" y="4297680"/>
            <a:ext cx="5669280" cy="22860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Two physical streams per sample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A radio receiver mixes incoming signal with a local oscillator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and produces TWO real-valued streams that are 90° out of phase: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     I  =  in-phase  (cosine component)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     Q  =  quadrature  (sine component)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37474F"/>
                </a:solidFill>
              </a:rPr>
              <a:t>Together they form one complex sample per time-step.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4297680"/>
            <a:ext cx="566928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Why 128 time samples?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128 is a short window — long enough to contain several modulation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symbols, short enough to fit in fast batched training: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  RML22  →  ~128 microseconds (1 Msps baseband)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     RadCom OTA  →  ~12.8 microseconds  (10 MS/s, OTA at 2.45 GHz)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</a:rPr>
              <a:t>All downstream IQ-modality tasks use exactly this (2, 1, 128) shape.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Three Ways to Look at the Same IQ Tensor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The (2, 1, 128) input never changes — but three different visual angles each reveal different features</a:t>
            </a:r>
          </a:p>
        </p:txBody>
      </p:sp>
      <p:pic>
        <p:nvPicPr>
          <p:cNvPr id="3" name="Picture 2" descr="rml22_BPSK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160520" cy="2628100"/>
          </a:xfrm>
          <a:prstGeom prst="rect">
            <a:avLst/>
          </a:prstGeom>
        </p:spPr>
      </p:pic>
      <p:pic>
        <p:nvPicPr>
          <p:cNvPr id="4" name="Picture 3" descr="rml22_QPSK_co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97280"/>
            <a:ext cx="3703320" cy="3752306"/>
          </a:xfrm>
          <a:prstGeom prst="rect">
            <a:avLst/>
          </a:prstGeom>
        </p:spPr>
      </p:pic>
      <p:pic>
        <p:nvPicPr>
          <p:cNvPr id="5" name="Picture 4" descr="radcom_pulsed_airbornedetection_e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097280"/>
            <a:ext cx="3977639" cy="26363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82880" y="4023360"/>
            <a:ext cx="4160520" cy="128016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Time-domain  (always available)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Plots I and Q vs time-sample index.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Shows everything but is hardest to interpret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the encoder ultimately works from this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023360"/>
            <a:ext cx="3703320" cy="12801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1B9A"/>
                </a:solidFill>
              </a:rPr>
              <a:t>Constellation  (digital comms)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Plots I vs Q as 128 dots — ignores time order.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Reveals SYMBOL geometry: BPSK = 2, QPSK = 4,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QAM16 = 16, etc. Used in RML22 gallery slides.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4023360"/>
            <a:ext cx="3977639" cy="12801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Amplitude envelope  (radar / pulses)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Plots |I + jQ| vs time — magnitude only.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Reveals POWER bursts: pulsed radar = on/off,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FMCW = constant. Used in RadCom gallery slides.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5440680"/>
            <a:ext cx="11887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How this relates to training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model NEVER sees the constellation or envelope plots — those are FOR HUMANS to read the data.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It only sees the raw (2, 1, 128) tensor and has to learn — through 50 epochs of cross-entropy loss — that the same patterns visible above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separate one class from another. Tasks where the discriminating feature is geometric (RML22) require different attention to tasks where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it is temporal (RadCom pulses). Both task types are tested with the same encoder — the subset study probes how cheaply each transfers.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Per-Class Visual Fingerprint Reference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What each of the 11 modulations looks like in the time and constellation views — and what makes it distinguishable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42646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280160"/>
            <a:ext cx="307238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Time-domain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280160"/>
            <a:ext cx="307238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Constellation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4169663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Key discriminator the encoder must learn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4264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BPSK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737360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I/Q toggle between 2 levels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737360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2 clusters along the I axis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4169663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phase flips between 0° and 180°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21408"/>
            <a:ext cx="14264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QPSK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21408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I and Q each take 2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121408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4 clusters in a square arrangement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21408"/>
            <a:ext cx="4169663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4 phases at 90° increments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05456"/>
            <a:ext cx="14264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8PSK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505456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smooth phase rotation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505456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8 dots equally spaced on a 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505456"/>
            <a:ext cx="4169663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8 phases on a unit circle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89504"/>
            <a:ext cx="14264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QAM16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889504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I and Q each take 4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2889504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4 × 4 grid of clusters (16 dots)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889504"/>
            <a:ext cx="4169663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amplitude AND phase — combined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73552"/>
            <a:ext cx="14264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QAM64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273552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I and Q each take 8 levels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3273552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8 × 8 grid (dense, regular pattern)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273552"/>
            <a:ext cx="4169663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fine-grained QAM grid (vs QAM16)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57600"/>
            <a:ext cx="14264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PAM4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657600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I varies among 4 levels, Q ≈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657600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4 vertical clusters along 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657600"/>
            <a:ext cx="4169663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amplitude only, no phase content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41648"/>
            <a:ext cx="14264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CPFSK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041648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I/Q oscillate at 2 distinct rates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4041648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ring-like pattern, no isolated clusters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041648"/>
            <a:ext cx="4169663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continuous phase between freq hops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425696"/>
            <a:ext cx="14264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GFSK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4425696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smoothed FSK transitions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4425696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thicker ring (Gaussian filtering)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425696"/>
            <a:ext cx="4169663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spectrally compact frequency hops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809744"/>
            <a:ext cx="14264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AM-DSB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4809744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smooth audio envelope on I and Q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0" y="4809744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analog smear (no discrete clusters)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809744"/>
            <a:ext cx="4169663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envelope shape = audio signal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193792"/>
            <a:ext cx="14264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AM-SSB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193792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asymmetric envelope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37760" y="5193792"/>
            <a:ext cx="30723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asymmetric smear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193792"/>
            <a:ext cx="4169663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one sideband suppressed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577840"/>
            <a:ext cx="14264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WBFM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5577840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fast phase rotations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5577840"/>
            <a:ext cx="30723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loose ring pattern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577840"/>
            <a:ext cx="4169663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audio modulates instantaneous frequency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5669280"/>
            <a:ext cx="11430000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121"/>
                </a:solidFill>
              </a:rPr>
              <a:t>Why constellation is the key view for RML22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All 11 modulations differ in HOW they place symbols in the (I, Q) plane (digital) or how they smear (analog). The encoder has to learn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this 2-D geometry from the raw 128-step time series alone — there is no constellation diagram in the training data, only IQ values.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Per-Class Visual Fingerprint Reference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What each of the 9 (modulation, signal-type) pairs looks like in the time and envelope 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Class pair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Time-domain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280160"/>
            <a:ext cx="234086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Envelope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280160"/>
            <a:ext cx="398678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Key discriminator the encoder must learn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AM-DSB / AM radio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737360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slow oscillations (audio)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737360"/>
            <a:ext cx="23408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smooth, slowly varying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9867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voice-like envelope, both sidebands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21408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AM-SSB / AM radio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121408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asymmetric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121408"/>
            <a:ext cx="23408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narrower smooth envelope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21408"/>
            <a:ext cx="39867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voice envelope, one sideband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05456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ASK / short-range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505456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amplitude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505456"/>
            <a:ext cx="23408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rectangular on/off 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505456"/>
            <a:ext cx="39867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discrete amplitude 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89504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BPSK / SATCOM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2889504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phase flips at 2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889504"/>
            <a:ext cx="23408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roughly constant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889504"/>
            <a:ext cx="39867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phase modulation, constant power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73552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FMCW / Radar Altimeter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273552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continuous phase ramp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3273552"/>
            <a:ext cx="23408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flat (constant power)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73552"/>
            <a:ext cx="39867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frequency sweeps continuously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57600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PULSED / Air-Ground-MTI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3657600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short on/off bursts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657600"/>
            <a:ext cx="23408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spike then near-zero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657600"/>
            <a:ext cx="39867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pulse repetition for moving targets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41648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PULSED / Airborne-detection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4041648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short bursts, narrow pulses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4041648"/>
            <a:ext cx="23408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sharp pulse, then silence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041648"/>
            <a:ext cx="39867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pulse width / PRF for target detect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425696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PULSED / Airborne-range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4425696"/>
            <a:ext cx="270662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compressed pulse pattern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4425696"/>
            <a:ext cx="234086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spike with sidelobes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425696"/>
            <a:ext cx="3986784" cy="3474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pulse compression for range accuracy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809744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4E79"/>
                </a:solidFill>
              </a:rPr>
              <a:t>PULSED / Ground mapping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4809744"/>
            <a:ext cx="270662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longer pulses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4809744"/>
            <a:ext cx="234086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wider pulse envelope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809744"/>
            <a:ext cx="3986784" cy="347472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12121"/>
                </a:solidFill>
              </a:rPr>
              <a:t>long-pulse mapping waveform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669280"/>
            <a:ext cx="11430000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121"/>
                </a:solidFill>
              </a:rPr>
              <a:t>Why envelope is the key view for RadCom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Pulsed radar vs continuous-wave radar vs comms differ most strongly in their AMPLITUDE-vs-TIME signature — pulses look like spikes,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FMCW looks flat, AM looks like voice. The encoder learns this temporal envelope structure directly from the (2, 1, 128) IQ tensor.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RML22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BDEFB"/>
                </a:solidFill>
              </a:rPr>
              <a:t>Modulation Classification — 11 classes, 462,000 IQ samples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Dataset Overview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RadioML 2022 — eleven analog and digital modulation schemes, raw IQ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36576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</a:rPr>
              <a:t>Source  &amp;  storage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Raw: RML22.01A pickle archives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Cache: datasets_h5/rml22.h5  (497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12121"/>
                </a:solidFill>
              </a:rPr>
              <a:t>Total samples:  462,000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Per class:   42,000  (perfectly balanced)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SNR coverage:  -20 dB to +20 dB  (21 steps of 2 dB)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Per (class, SNR):  ≈ 2,000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  → low-SNR samples are nearly noise; high-SNR are clean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Modality: raw IQ waveforms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Each sample = 128 consecutive complex baseband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captured at the receiver (≈128 microseconds at 1 Msps).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669280" cy="3657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</a:rPr>
              <a:t>Tensors  &amp;  splits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Input shape:  (2, 1, 128)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2  =  I (in-phase)  and  Q (quadrature) channels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1  =  vestigial height dim (kept for adapter API)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128  =  time-domain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Per-channel norm  (mu=0, std≈2.92)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Output:  11-way softmax  →  Linear(256, 11)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Loss:  plain CrossEntropyLoss  (no weights, no smoothing)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Train (80%):  369,600     Validation (20%):  92,400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Primary metric: PCA   |   Secondary: Acc@1, Acc@3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983480"/>
            <a:ext cx="11430000" cy="1691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Plain English — what one (2, 1, 128) tensor actually contains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Imagine recording an antenna voltage for ~128 microseconds. The radio splits the signal into two streams that are 90° apart — that is I (in-phase) and Q (quadrature).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tensor stores those two streams sample-by-sample. Each modulation scheme leaves a distinctive fingerprint on the I/Q pattern that a human can sometimes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see in a constellation plot — and that the encoder must learn to recognise from the raw 128-sample sequence alone.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Task Input  →  Output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What goes into the model and what label has to come out for the sample to count as correct</a:t>
            </a:r>
          </a:p>
        </p:txBody>
      </p:sp>
      <p:pic>
        <p:nvPicPr>
          <p:cNvPr id="3" name="Picture 2" descr="io_rml22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114800" cy="2714017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4343400" y="3108960"/>
            <a:ext cx="411480" cy="548640"/>
          </a:xfrm>
          <a:prstGeom prst="rightArrow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_rml22_en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743200" cy="246888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7635240" y="3108960"/>
            <a:ext cx="411480" cy="548640"/>
          </a:xfrm>
          <a:prstGeom prst="rightArrow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_rml22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88720"/>
            <a:ext cx="4023360" cy="26485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5486400"/>
            <a:ext cx="114300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Plain English  —  read left to right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1.  A real BPSK sample (128 IQ time points) goes IN.   2.  The frozen encoder + linear head produces 11 probabilities.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3.  The argmax is the predicted modulation. The sample is correctly labelled when the predicted index = the ground-truth integer (here 3 = "BPSK").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All 11 Modulation Labels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Mix of analog (AM, FM) and digital (PSK, FSK, PAM, QAM) schemes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859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8PSK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PHASE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8-level Phase-Shift Keying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70760" y="1280160"/>
            <a:ext cx="1859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AM-DSB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Analog 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Amplitude Mod, double sideband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5760" y="1280160"/>
            <a:ext cx="1859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AM-SSB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Analog 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Amplitude Mod, single sideband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280160"/>
            <a:ext cx="1859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BPSK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PHASE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Binary Phase-Shift Keying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85760" y="1280160"/>
            <a:ext cx="1859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CPFSK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FREQ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Continuous-Phase FSK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0760" y="1280160"/>
            <a:ext cx="1859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GFSK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FREQ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Gaussian Frequency-Shift Keying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2240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PAM4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AMP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4-level Pulse-Amplitude Mod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743200"/>
            <a:ext cx="2240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QAM16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QAM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16-symbol Quadrature 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2240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QAM64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QAM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64-symbol Quadrature 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743200"/>
            <a:ext cx="2240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QPSK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Digital PHASE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Quadrature Phase-Shift Keying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743200"/>
            <a:ext cx="224028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WBFM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37474F"/>
                </a:solidFill>
              </a:rPr>
              <a:t>Analog FM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707B"/>
                </a:solidFill>
              </a:rPr>
              <a:t>Wideband Frequency Mod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97680"/>
            <a:ext cx="1143000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Why this label set is challenging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Some classes are visually very similar in raw IQ (QAM16 vs QAM64, BPSK vs QPSK).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Others look completely different (analog AM vs digital FSK). The encoder must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learn both fine-grained AND coarse distinctions from the same backbone.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577840"/>
            <a:ext cx="11430000" cy="10058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Subset behavior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Subsets are stratified, so all 11 classes remain represented at every level.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7474F"/>
                </a:solidFill>
              </a:rPr>
              <a:t>At 1% the head still sees ~336 samples per class (vs 33,600 at full data).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How the Original Dataset Was Built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Synthetically generated with GNU Radio — published as RML22 by Sathyanarayanan et al., IEEE TWC 2023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45720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</a:rPr>
              <a:t>Authors  &amp;  citation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V. Sathyanarayanan, P. Gerstoft, A. El Gamal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"RML22: Realistic Dataset Generation for Wireless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Modulation Classification"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IEEE Trans. Wireless Commun., vol. 22(11),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pp. 7663–7675, 2023.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Code: github.com/venkateshsathya/RML22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Why it exists  —  fixes RML16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RML22 was created to correct several reproducibility issues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older RML16 / RadioML 2016 dataset (ad-hoc impairment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parameters, label leakage). It releases the GNU Radio code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used to generate it so anyone can reproduce or extend the corpus.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669280" cy="4572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</a:rPr>
              <a:t>Generation pipeline  (per modulation, per SNR)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1.  Source signal  →  modulator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digital mods get random bit streams; analog mods (AM, WBFM)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are driven by an audio podcast WAV file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2.  Apply CLOCK effects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sample-rate offset (SRO) + carrier-frequency offset (CFO)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+ random phase offset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3.  Apply CHANNEL fading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simulated multipath fading filter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4.  Add THERMAL noise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   additive white Gaussian noise scaled to target SNR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5.  Slice into 128-sample windows  →  store (mod, snr) → array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</a:rPr>
              <a:t>Result: 11 mods × 21 SNRs × 2,000 samples  =  462,000 IQ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7772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Each sample is a short 128-step recording of a synthetic radio signal that has been distorted by realistic channel and clock effects, then drowned in noise to a chosen SNR. The model has to identify the modulation despite all that noise.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Local Preprocessing Pipeline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From the source RML22.01A pickle to the (2, 1, 128) tensor the model actually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69748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Source pickle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RML22.01A  (473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dict { (mod, snr):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array(2000, 2, 128)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231 cells, 462,000 samples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697480" cy="219456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1B9A"/>
                </a:solidFill>
              </a:rPr>
              <a:t>Per-channel norm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mu = 0  (signal centred)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std ≈ 2.925  (RMS)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sample = (sample - mu) / std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one-pass over every cell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697480" cy="21945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Reshape  +  pack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add vestigial height dim: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(2, 128)  →  (2, 1, 128)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integer label per sample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SNR + mod-string sidecars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188720"/>
            <a:ext cx="269748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Write HDF5 cache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datasets_h5/rml22.h5  (497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datasets: sample, label,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       snr, modulation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attrs: labels, mu, std,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    class_weights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90088" y="2148840"/>
            <a:ext cx="192024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916168" y="2148840"/>
            <a:ext cx="192024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842248" y="2148840"/>
            <a:ext cx="192024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ml22_raw_8p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852160" cy="3859935"/>
          </a:xfrm>
          <a:prstGeom prst="rect">
            <a:avLst/>
          </a:prstGeom>
        </p:spPr>
      </p:pic>
      <p:pic>
        <p:nvPicPr>
          <p:cNvPr id="11" name="Picture 10" descr="rml22_norm_8p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20440"/>
            <a:ext cx="5852160" cy="385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7474F"/>
                </a:solidFill>
              </a:rPr>
              <a:t>Same 8PSK sample plotted on identical y-axes — raw spans ±18, after dividing by std≈2.925 it spans roughly ±6. The shape is preserved; only the scale changes.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Why Normalise?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Histogram view across many samples and SNR levels</a:t>
            </a:r>
          </a:p>
        </p:txBody>
      </p:sp>
      <p:pic>
        <p:nvPicPr>
          <p:cNvPr id="3" name="Picture 2" descr="rml22_hist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852160" cy="3683894"/>
          </a:xfrm>
          <a:prstGeom prst="rect">
            <a:avLst/>
          </a:prstGeom>
        </p:spPr>
      </p:pic>
      <p:pic>
        <p:nvPicPr>
          <p:cNvPr id="4" name="Picture 3" descr="rml22_hist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852160" cy="38655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49240"/>
            <a:ext cx="114300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12121"/>
                </a:solidFill>
              </a:rPr>
              <a:t>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Raw RML22 amplitudes have a wide spread (std ≈ 2.9). Neural networks train much more stably when inputs sit near zero with std ≈ 1.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Per-channel normalization (subtract mean, divide by std) does exactly that — without changing the SHAPE of the waveform.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BPSK  (Binary Phase-Shift Keying)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3  —  the simplest digital modulation, 1 bit per symbol</a:t>
            </a:r>
          </a:p>
        </p:txBody>
      </p:sp>
      <p:pic>
        <p:nvPicPr>
          <p:cNvPr id="3" name="Picture 2" descr="rml22_BPSK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274273"/>
          </a:xfrm>
          <a:prstGeom prst="rect">
            <a:avLst/>
          </a:prstGeom>
        </p:spPr>
      </p:pic>
      <p:pic>
        <p:nvPicPr>
          <p:cNvPr id="4" name="Picture 3" descr="rml22_BPSK_co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48241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swing between two opposite levels.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Constellation: 2 clusters along the I axis.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model predicts class index 3 = "BPSK".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BPSK flips the carrier wave between two phases (0° and 180°)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to send 1 bit per symbol. Used by deep-space probes (very robust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to noise) and as the preamble of many Wi-Fi / LTE frames.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QPSK  (Quadrature Phase-Shift Keying)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9  —  4 phases, 2 bits per symbol</a:t>
            </a:r>
          </a:p>
        </p:txBody>
      </p:sp>
      <p:pic>
        <p:nvPicPr>
          <p:cNvPr id="3" name="Picture 2" descr="rml22_QPSK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270341"/>
          </a:xfrm>
          <a:prstGeom prst="rect">
            <a:avLst/>
          </a:prstGeom>
        </p:spPr>
      </p:pic>
      <p:pic>
        <p:nvPicPr>
          <p:cNvPr id="4" name="Picture 3" descr="rml22_QPSK_co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48177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each take one of two levels independently.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Constellation: 4 clusters in a square arrangement.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model predicts class index 9 = "QPSK".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QPSK uses 4 phases (0°, 90°, 180°, 270°) so each symbol carries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2 bits — twice the throughput of BPSK at the same SNR. Used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CDMA cellular, satellite TV, and many Wi-Fi modes.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QAM16  (16-QAM)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7  —  4 amplitudes × 4 phases, 4 bits per symbol</a:t>
            </a:r>
          </a:p>
        </p:txBody>
      </p:sp>
      <p:pic>
        <p:nvPicPr>
          <p:cNvPr id="3" name="Picture 2" descr="rml22_QAM16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219873"/>
          </a:xfrm>
          <a:prstGeom prst="rect">
            <a:avLst/>
          </a:prstGeom>
        </p:spPr>
      </p:pic>
      <p:pic>
        <p:nvPicPr>
          <p:cNvPr id="4" name="Picture 3" descr="rml22_QAM16_co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47486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both take 4 distinct levels.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Constellation: 16 clusters in a 4x4 grid.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model predicts class index 7 = "QAM16".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QAM16 places 16 symbols on a 4x4 grid — encoding 4 bits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per symbol. Used by cable modems (DOCSIS), Wi-Fi, and 4G.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121"/>
                </a:solidFill>
              </a:rPr>
              <a:t>Hard to distinguish from QAM64 in raw IQ — that is the challenge.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CPFSK  (Continuous-Phase FSK)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4  —  digital frequency shift keying with smooth phase</a:t>
            </a:r>
          </a:p>
        </p:txBody>
      </p:sp>
      <p:pic>
        <p:nvPicPr>
          <p:cNvPr id="3" name="Picture 2" descr="rml22_CPFSK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239142"/>
          </a:xfrm>
          <a:prstGeom prst="rect">
            <a:avLst/>
          </a:prstGeom>
        </p:spPr>
      </p:pic>
      <p:pic>
        <p:nvPicPr>
          <p:cNvPr id="4" name="Picture 3" descr="rml22_CPFSK_co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47735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oscillate at varying speed (frequency shifts).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Constellation: ring-like pattern, no isolated clusters.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model predicts class index 4 = "CPFSK".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CPFSK shifts between two carrier frequencies to send bits — but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keeps phase continuous so the spectrum stays compact. Used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Bluetooth (GFSK is its Gaussian-shaped cousin) and some IoT radios.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AM-DSB  (Analog Amplitude Modulation, double-sideband)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1  —  the modulation used by classic AM broadcast radio</a:t>
            </a:r>
          </a:p>
        </p:txBody>
      </p:sp>
      <p:pic>
        <p:nvPicPr>
          <p:cNvPr id="3" name="Picture 2" descr="rml22_AMDSB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196980"/>
          </a:xfrm>
          <a:prstGeom prst="rect">
            <a:avLst/>
          </a:prstGeom>
        </p:spPr>
      </p:pic>
      <p:pic>
        <p:nvPicPr>
          <p:cNvPr id="4" name="Picture 3" descr="rml22_AMDSB_co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47179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vary smoothly with the audio envelope.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Constellation: smear (no discrete symbols — analog signal).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model predicts class index 1 = "AM-DSB".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Voice/audio modulates the AMPLITUDE of the carrier. Both upper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and lower sidebands are transmitted (DSB) — simple but spectrally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wasteful. Still used by AM radio stations worldwide.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Subset Sample Sizes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How many labeled training samples each subset run actually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7066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Train samples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21579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Per class (~)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27066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Validation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280160"/>
            <a:ext cx="21579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Total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151790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82880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3,696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92,400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462,000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77440"/>
            <a:ext cx="151790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37744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11,088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37744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1,008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37744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92,400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37744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462,000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26080"/>
            <a:ext cx="151790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92608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18,480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92608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1,680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92608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92,400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92608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462,000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74720"/>
            <a:ext cx="151790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47472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36,960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47472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3,360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47472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92,400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47472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462,000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023360"/>
            <a:ext cx="151790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402336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184,800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02336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16,800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02336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92,400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402336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462,000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572000"/>
            <a:ext cx="151790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57200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369,600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57200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33,600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57200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92,400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457200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462,000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120640"/>
            <a:ext cx="1143000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Reading the table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Per-class numbers are exact for 1%, 3%, 5%, 10%, 50% (subset is stratified).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The validation set is identical for every subset level (always full 92,400 samples) so the eval comparison is apples-to-apples.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Runtime Per Subset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Wall-clock per single seeded run on RTX 5090, plus the 9-run-per-subset task total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17007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80160"/>
            <a:ext cx="17007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FT2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280160"/>
            <a:ext cx="17007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LoRA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21579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Per-mode 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280160"/>
            <a:ext cx="243230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Task total (9 runs)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15179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82880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4m 40s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4m 39s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82880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4m 41s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0"/>
            <a:ext cx="21579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4m 40s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828800"/>
            <a:ext cx="24323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42m 00s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331720"/>
            <a:ext cx="15179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33172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00s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33172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4m 59s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33172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01s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331720"/>
            <a:ext cx="21579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00s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331720"/>
            <a:ext cx="24323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45m 03s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834640"/>
            <a:ext cx="15179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83464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21s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283464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21s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283464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22s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834640"/>
            <a:ext cx="21579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5m 21s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834640"/>
            <a:ext cx="24323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48m 16s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337560"/>
            <a:ext cx="15179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33756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6m 02s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33756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6m 02s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333756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6m 04s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337560"/>
            <a:ext cx="21579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6m 03s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337560"/>
            <a:ext cx="24323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54m 29s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840480"/>
            <a:ext cx="15179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84048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08s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384048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11s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384048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12s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3840480"/>
            <a:ext cx="21579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10s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3840480"/>
            <a:ext cx="24323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1h 49m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343400"/>
            <a:ext cx="15179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</a:rPr>
              <a:t>ALL  (5 subsets)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434340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434340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0" y="434340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4343400"/>
            <a:ext cx="21579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4343400"/>
            <a:ext cx="24323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4.99 h  (4h 59m)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029200"/>
            <a:ext cx="11430000" cy="15544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Two patterns to notice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Mode barely matters — LP, FT2, LoRA all finish within ~1% of each other at any subset.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Time grows roughly linearly with subset size (50% takes about 2.5x as long as 1%) because the per-epoch step count grows.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All 5 RML22 subsets cost about 5.6 GPU-hours total — affordable to repeat.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 — LP (Linear Probe) Results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mean ± std across 3 seeds. Compared to the local full-data baseline (50.39).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2494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17922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98094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Retention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30.75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-19.64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3736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61.0%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14884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36.26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4884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-14.13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14884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72.0%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38.07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-12.32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75.6%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7180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40.46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97180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97180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-9.93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7180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80.3%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47.36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8328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38328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-3.03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38328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94.0%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7947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9476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50.39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9476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79476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0.00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79476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9768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9768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59028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9%  =  random guessing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59028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59028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459028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59028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760720"/>
            <a:ext cx="11430000" cy="9144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Headline:   1% → 30.75 PCA (61.0% retain)   |   50% → 47.36 PCA (94.0% retain)   |   per-seed std ≤ 0.18.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 — FT2 (Partial Fine-Tune) Results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mean ± std across 3 seeds. Compared to the local full-data baseline (55.14).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2494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17922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98094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Retention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33.42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-21.72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3736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60.6%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14884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36.24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4884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-18.90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14884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65.7%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38.26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-16.88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69.4%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7180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41.64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97180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97180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-13.50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7180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75.5%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51.41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8328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38328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-3.73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38328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93.2%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7947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9476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55.14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9476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79476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0.00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79476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9768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9768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59028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9%  =  random guessing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59028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59028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459028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59028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760720"/>
            <a:ext cx="11430000" cy="91440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Headline:   1% → 33.42 PCA (60.6% retain)   |   50% → 51.41 PCA (93.2% retain)   |   per-seed std ≤ 0.30.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 — LoRA (Low-Rank Adapters) Results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mean ± std across 3 seeds. Compared to the local full-data baseline (56.42).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2494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17922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98094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Retention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34.52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-21.90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3736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61.2%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14884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38.07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4884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-18.35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14884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67.5%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40.01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-16.41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70.9%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7180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43.85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97180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0.44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97180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-12.57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7180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77.7%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53.71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8328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38328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-2.71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38328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95.2%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7947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9476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56.42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9476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79476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0.00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79476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9768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9768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59028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9%  =  random guessing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59028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59028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459028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59028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760720"/>
            <a:ext cx="11430000" cy="914400"/>
          </a:xfrm>
          <a:prstGeom prst="roundRect">
            <a:avLst/>
          </a:prstGeom>
          <a:solidFill>
            <a:srgbClr val="6A1B9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Headline:   1% → 34.52 PCA (61.2% retain)   |   50% → 53.71 PCA (95.2% retain)   |   per-seed std ≤ 0.44.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RML22 — Combined Results  (PCA, retain%, time per cell)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All three modes side-by-side. Each cell shows PCA, retention, and the wall-clock time for one (mode, subset) seeded run.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33467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LP   (PCA / retain / 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280160"/>
            <a:ext cx="33467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FT2   (PCA / retain / time)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280160"/>
            <a:ext cx="33467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LoRA   (PCA / retain /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78308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30.75   61.0%   4m 40s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78308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33.42   60.6%   4m 39s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78308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34.52   61.2%   4m 41s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19456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36.26   72.0%   5m 00s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19456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36.24   65.7%   4m 59s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19456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38.07   67.5%   5m 01s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0604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60604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38.07   75.6%   5m 21s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60604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38.26   69.4%   5m 21s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60604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40.01   70.9%   5m 22s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01752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01752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40.46   80.3%   6m 02s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01752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41.64   75.5%   6m 02s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301752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43.85   77.7%   6m 04s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2900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42900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47.36   94.0%   12m 08s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42900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51.41   93.2%   12m 11s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42900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53.71   95.2%   12m 12s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4048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84048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50.39   100.0%   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84048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55.14   100.0%   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84048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56.42   100.0%   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1480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11480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40740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9%  =  random guessing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0336" y="440740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4192" y="440740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440740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61904" y="440740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577840"/>
            <a:ext cx="11430000" cy="292608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Cell-colour legend (retention vs full-data baseline)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97880"/>
            <a:ext cx="320040" cy="29260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&gt;=99% retain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5897880"/>
            <a:ext cx="3200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&gt;=90% retain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897880"/>
            <a:ext cx="320040" cy="292608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&gt;=75% retain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5897880"/>
            <a:ext cx="320040" cy="292608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&lt;75% retain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6263640"/>
            <a:ext cx="11430000" cy="38404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1F4E79"/>
                </a:solidFill>
              </a:rPr>
              <a:t>Pattern: LoRA leads at every subset; time is essentially identical across modes (within ~1%) — choosing a mode is an accuracy/memory decision, not a time decision.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RadCom 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BDEFB"/>
                </a:solidFill>
              </a:rPr>
              <a:t>Signal Classification — 9 (modulation, signal-type) pairs, 567,000 IQ samples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Dataset Overview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Nine (modulation, signal-type) pairs spanning AM radio, SATCOM, and pulsed radar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3657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</a:rPr>
              <a:t>Source  &amp;  storage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Raw: RadComOta2.45GHz.hdf5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Cache: datasets_h5/radcom.h5  (637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12121"/>
                </a:solidFill>
              </a:rPr>
              <a:t>Total samples:  567,000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Per class:   63,000  (balanced over 9 pairs)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SNR coverage:  0 dB to 32 dB  (9 steps of 4 dB)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Per (class, SNR):  ≈ 7,000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  → all SNRs are non-negative (cleaner than RML22)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Modality: raw IQ waveforms (128-sample windows)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Source records 256-element rows; preprocess splits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the first 128 into I and the next 128 into Q.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669280" cy="36576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</a:rPr>
              <a:t>Tensors  &amp;  splits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Input shape:  (2, 1, 128)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2  =  I  and  Q channels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1  =  vestigial height dim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  128  =  time-domain samples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Per-channel mean/std stored in the cache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</a:rPr>
              <a:t>Output:  9-way softmax  →  Linear(256, 9)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Loss:  plain CrossEntropyLoss  (no weights, no smoothing)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Train (80%):  453,600     Validation (20%):  113,400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Primary: PCA   |   Aux: Acc@1, Acc@3, mod_acc, sig_acc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983480"/>
            <a:ext cx="11430000" cy="1691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Plain English — why RadCom is "easier" for the encoder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9 labels mix three very different families: AM analog (broadcast radio), digital comms (ASK / BPSK), and pulsed-or-FMCW radar.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Pulsed radar in particular has a very distinctive on/off amplitude envelope. Even a frozen pretrained encoder picks up these family-level cues quickly,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which is why all three modes (LP / FT2 / LoRA) cluster within ~3 PCA at every subset size — see the results section.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All 9 Class Pairs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(modulation, signal-type) — colored by signal family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2240280" cy="15544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A1B9A"/>
                </a:solidFill>
              </a:rPr>
              <a:t>AM-DSB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AM radio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Analog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280160"/>
            <a:ext cx="2240280" cy="15544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A1B9A"/>
                </a:solidFill>
              </a:rPr>
              <a:t>AM-SSB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AM radio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Analog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280160"/>
            <a:ext cx="2240280" cy="15544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ASK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short-range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Digital comms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280160"/>
            <a:ext cx="2240280" cy="15544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BPSK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SATCOM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Digital comms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280160"/>
            <a:ext cx="2240280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65100"/>
                </a:solidFill>
              </a:rPr>
              <a:t>FMCW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Radar Altimeter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Continuous-wave radar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2811780" cy="155448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</a:rPr>
              <a:t>PULSED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Air-Ground-MTI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Pulsed radar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3260" y="2926080"/>
            <a:ext cx="2811780" cy="155448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</a:rPr>
              <a:t>PULSED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Airborne-detection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Pulsed radar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926080"/>
            <a:ext cx="2811780" cy="155448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</a:rPr>
              <a:t>PULSED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Airborne-range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Pulsed radar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8260" y="2926080"/>
            <a:ext cx="2811780" cy="155448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</a:rPr>
              <a:t>PULSED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7474F"/>
                </a:solidFill>
              </a:rPr>
              <a:t>Ground mapping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" b="0" i="0">
                <a:solidFill>
                  <a:srgbClr val="37474F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0707B"/>
                </a:solidFill>
              </a:rPr>
              <a:t>Pulsed radar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663440"/>
            <a:ext cx="11430000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12121"/>
                </a:solidFill>
              </a:rPr>
              <a:t>Two auxiliary metrics worth watching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mod_acc collapses 9 pairs into 6 distinct modulations  |  sig_acc collapses into 6 distinct signal types  |  both reach &gt;96% at full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669280"/>
            <a:ext cx="1143000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</a:rPr>
              <a:t>Why RadCom is the easier modulation task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Four of the nine pairs are pulsed-radar variants with very distinctive amplitude envelopes — much more separable than the fine-grained RML22 modulations.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How the Original Dataset Was Collected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Real over-the-air recordings — published as RadarCommDataset by the ANDRO Marconi-Rosenblatt AI/ML Lab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4572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</a:rPr>
              <a:t>Authors  &amp;  citation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A. Jagannath  &amp;  J. Jagannath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Marconi-Rosenblatt AI/ML Innovation Lab,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0707B"/>
                </a:solidFill>
              </a:rPr>
              <a:t>ANDRO Computational Solutions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Github: ANDROComputationalSolutions/RadarCommDataset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0707B"/>
                </a:solidFill>
              </a:rPr>
              <a:t>License: CC BY-NC-SA 4.0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Why it exists  —  multitask wireless dataset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First labeled OTA dataset that mixes RADAR + COMMS waveforms in one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place, with both modulation labels AND signal-type labels per sample.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Built specifically for joint modulation / signal classification ML.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"In-the-wild" capture: other emitters in the 2.45 GHz ISM band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37474F"/>
                </a:solidFill>
              </a:rPr>
              <a:t>are also present in the recording — the model has to be robust to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669280" cy="45720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</a:rPr>
              <a:t>Capture rig and parameters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Radio:           USRP N210  (software-defined radio)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Antenna:        VERT2450  (omni-directional dual-band)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Center freq:   2.45 GHz  (ISM band, same as Wi-Fi/BT)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Sample rate:   10 MS/s  (so 128 samples ≈ 12.8 microseconds)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Source format:  HDF5,  one dataset per snapshot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Key:  ("modulation", "signal-type", "snr-dB", "sample-idx")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Value:  flat array of 256 floats  =  128 I + 128 Q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121"/>
                </a:solidFill>
              </a:rPr>
              <a:t>Local file inspected:  RadComOta2.45GHz.hdf5  (838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Contents:  9 (mod, sig) pairs × 9 SNRs × 7,000 snapshots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                  =  567,000 OTA samples 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7772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Each sample is a 12.8-microsecond clip of real antenna voltage at 2.45 GHz, captured while a known transmitter was emitting one of the 9 waveforms. The data already includes real-world antenna noise, multipath, and other ISM-band interference.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Local Preprocessing Pipeline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From the source HDF5 of (256,) flat rows to the (2, 1, 128) tensor the model actually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69748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Source HDF5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RadComOta2.45GHz.hdf5  (838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567,000 keys (one per sample)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each value: flat (256,) array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first 128 = I, next 128 = 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697480" cy="219456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1B9A"/>
                </a:solidFill>
              </a:rPr>
              <a:t>Parse  &amp;  reshape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parse key string with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ast.literal_eval()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_to_2ct: split into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(2, 1, 128)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697480" cy="21945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Per-channel norm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two-pass over the cache: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pass 1: write + accumulate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          mean &amp; std per channel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pass 2: subtract mean,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          divide by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188720"/>
            <a:ext cx="269748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Write HDF5 cache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datasets_h5/radcom.h5  (637 MB)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sample (N, 2, 1, 128)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label (N,) + modulation,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signal_type, snr sidecars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attrs: mean, std, label_pairs,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74F"/>
                </a:solidFill>
              </a:rPr>
              <a:t>       class_weights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90088" y="2148840"/>
            <a:ext cx="192024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916168" y="2148840"/>
            <a:ext cx="192024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842248" y="2148840"/>
            <a:ext cx="192024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dcom_raw_bpsksat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852160" cy="3832238"/>
          </a:xfrm>
          <a:prstGeom prst="rect">
            <a:avLst/>
          </a:prstGeom>
        </p:spPr>
      </p:pic>
      <p:pic>
        <p:nvPicPr>
          <p:cNvPr id="11" name="Picture 10" descr="radcom_norm_bpsksat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20440"/>
            <a:ext cx="5852160" cy="3788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7474F"/>
                </a:solidFill>
              </a:rPr>
              <a:t>Same BPSK / SATCOM sample. Left: source row is one flat 256-element vector with I and Q concatenated (split point at index 128). Right: split into channel 0 = I, channel 1 = Q with per-channel mean/std applied.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Task Input  →  Output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What goes into the model and what label has to come out for the sample to count as correct</a:t>
            </a:r>
          </a:p>
        </p:txBody>
      </p:sp>
      <p:pic>
        <p:nvPicPr>
          <p:cNvPr id="3" name="Picture 2" descr="io_radcom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114800" cy="2615372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4343400" y="3108960"/>
            <a:ext cx="411480" cy="548640"/>
          </a:xfrm>
          <a:prstGeom prst="rightArrow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_radcom_en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743200" cy="246888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7635240" y="3108960"/>
            <a:ext cx="411480" cy="548640"/>
          </a:xfrm>
          <a:prstGeom prst="rightArrow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_radcom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88720"/>
            <a:ext cx="4023360" cy="24854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5486400"/>
            <a:ext cx="114300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Plain English  —  read left to right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1.  A real BPSK/SATCOM sample (128 IQ time points) goes IN.   2.  The encoder + linear head produces 9 probabilities.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7474F"/>
                </a:solidFill>
              </a:rPr>
              <a:t>3.  The argmax is the predicted (modulation, signal-type) pair. The sample is correctly labelled when the predicted index = the ground truth (here 3 = "BPSK / SATCOM").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AM-DSB / AM radio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0  —  classic broadcast AM voice channel</a:t>
            </a:r>
          </a:p>
        </p:txBody>
      </p:sp>
      <p:pic>
        <p:nvPicPr>
          <p:cNvPr id="3" name="Picture 2" descr="radcom_amdsb_amradio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484889"/>
          </a:xfrm>
          <a:prstGeom prst="rect">
            <a:avLst/>
          </a:prstGeom>
        </p:spPr>
      </p:pic>
      <p:pic>
        <p:nvPicPr>
          <p:cNvPr id="4" name="Picture 3" descr="radcom_amdsb_amradio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3151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smooth low-frequency oscillations in I and Q.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Envelope: gradual rises and falls — analog signature.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predicts "AM-DSB / AM radio".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Recorded audio modulates a 2.45 GHz carrier in amplitude.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The receiver sees a slowly-varying envelope — the actual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"voice" of the broadcast.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BPSK / SATCOM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3  —  satellite uplink, binary phase modulation</a:t>
            </a:r>
          </a:p>
        </p:txBody>
      </p:sp>
      <p:pic>
        <p:nvPicPr>
          <p:cNvPr id="3" name="Picture 2" descr="radcom_bpsk_satcom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484889"/>
          </a:xfrm>
          <a:prstGeom prst="rect">
            <a:avLst/>
          </a:prstGeom>
        </p:spPr>
      </p:pic>
      <p:pic>
        <p:nvPicPr>
          <p:cNvPr id="4" name="Picture 3" descr="radcom_bpsk_satcom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3151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flip between two opposite levels.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Envelope: roughly constant — no amplitude information.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predicts "BPSK / SATCOM".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A simulated SATCOM uplink using BPSK — 1 bit per symbol.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Robust to noise (good for satellite distances) but slow.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Captured OTA in the 2.45 GHz ISM band.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FMCW / Radar Altimeter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4  —  continuous-wave radar that sweeps in frequency</a:t>
            </a:r>
          </a:p>
        </p:txBody>
      </p:sp>
      <p:pic>
        <p:nvPicPr>
          <p:cNvPr id="3" name="Picture 2" descr="radcom_fmcw_radaraltimet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484889"/>
          </a:xfrm>
          <a:prstGeom prst="rect">
            <a:avLst/>
          </a:prstGeom>
        </p:spPr>
      </p:pic>
      <p:pic>
        <p:nvPicPr>
          <p:cNvPr id="4" name="Picture 3" descr="radcom_fmcw_radaraltimeter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3151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I and Q oscillate at varying speed (chirp).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Envelope: roughly constant — radar transmits all the time.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predicts "FMCW / Radar Altimeter".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FMCW transmits continuously while sweeping the carrier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frequency in a sawtooth pattern. Used by aircraft altimeters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to measure altitude with very high precision.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PULSED / Airborne-detection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Class index 6  —  pulsed radar transmitting short bursts</a:t>
            </a:r>
          </a:p>
        </p:txBody>
      </p:sp>
      <p:pic>
        <p:nvPicPr>
          <p:cNvPr id="3" name="Picture 2" descr="radcom_pulsed_airbornedetec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766560" cy="4484889"/>
          </a:xfrm>
          <a:prstGeom prst="rect">
            <a:avLst/>
          </a:prstGeom>
        </p:spPr>
      </p:pic>
      <p:pic>
        <p:nvPicPr>
          <p:cNvPr id="4" name="Picture 3" descr="radcom_pulsed_airbornedetection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4754880" cy="3151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166360"/>
            <a:ext cx="566928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</a:rPr>
              <a:t>What to look for in the plot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Time view: a burst of activity then silence.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Envelope: spike then ~zero — very distinctive vs all comms.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E79"/>
                </a:solidFill>
              </a:rPr>
              <a:t>Correctly labelled means: predicts "PULSED / Airborne-detection".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66360"/>
            <a:ext cx="566928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In plain English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Pulsed radar fires short bursts and listens for echoes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between pulses. The on/off pattern is the giveaway.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7474F"/>
                </a:solidFill>
              </a:rPr>
              <a:t>Used by airborne search radars to find targets.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Subset Sample Sizes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How many labeled training samples each subset run actually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7066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Train samples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21579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Per class (~)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27066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Validation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280160"/>
            <a:ext cx="21579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Total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151790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82880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4,536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113,400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567,000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77440"/>
            <a:ext cx="151790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37744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13,608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37744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1,512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37744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113,400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37744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567,000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26080"/>
            <a:ext cx="151790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92608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22,680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92608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2,520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92608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113,400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92608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567,000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74720"/>
            <a:ext cx="151790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47472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45,360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47472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5,040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47472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113,400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47472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567,000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023360"/>
            <a:ext cx="151790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402336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226,800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02336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25,200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02336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113,400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4023360"/>
            <a:ext cx="215798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567,000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572000"/>
            <a:ext cx="151790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57200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453,600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57200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50,400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57200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113,400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4572000"/>
            <a:ext cx="215798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567,000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120640"/>
            <a:ext cx="1143000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Reading the table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Per-class numbers are exact for 1%, 3%, 5%, 10%, 50% (subset is stratified).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The validation set is identical for every subset level (always full 113,400 samples) so the eval comparison is apples-to-apples.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Runtime Per Subset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Wall-clock per single seeded run on RTX 5090, plus the 9-run-per-subset task total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17007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80160"/>
            <a:ext cx="17007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FT2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280160"/>
            <a:ext cx="17007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LoRA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215798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Per-mode 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280160"/>
            <a:ext cx="243230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Task total (9 runs)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15179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82880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01s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00s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82880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10m 59s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0"/>
            <a:ext cx="21579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00s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828800"/>
            <a:ext cx="24323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1h 39m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331720"/>
            <a:ext cx="15179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33172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44s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33172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42s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33172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44s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331720"/>
            <a:ext cx="21579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11m 43s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331720"/>
            <a:ext cx="24323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1h 45m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834640"/>
            <a:ext cx="15179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83464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26s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283464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28s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283464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30s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834640"/>
            <a:ext cx="21579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12m 28s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834640"/>
            <a:ext cx="24323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1h 52m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337560"/>
            <a:ext cx="15179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33756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14m 24s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33756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14m 30s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333756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14m 34s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337560"/>
            <a:ext cx="21579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14m 30s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337560"/>
            <a:ext cx="24323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2h 10m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840480"/>
            <a:ext cx="15179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84048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30m 05s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384048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30m 05s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3840480"/>
            <a:ext cx="17007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29m 57s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3840480"/>
            <a:ext cx="215798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30m 02s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3840480"/>
            <a:ext cx="2432304" cy="46634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>4h 30m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343400"/>
            <a:ext cx="15179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</a:rPr>
              <a:t>ALL  (5 subsets)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434340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434340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0" y="4343400"/>
            <a:ext cx="17007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4343400"/>
            <a:ext cx="215798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4343400"/>
            <a:ext cx="2432304" cy="46634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E7D32"/>
                </a:solidFill>
              </a:rPr>
              <a:t>11.96 h  (11h 57m)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029200"/>
            <a:ext cx="11430000" cy="15544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</a:rPr>
              <a:t>Two patterns to notice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RadCom is consistently ~2.4x slower than RML22 at every subset (larger training pool — 453K vs 369K).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Mode again barely matters (LP, FT2, LoRA within ~1%) — encoder forward pass dominates training time.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All 5 RadCom subsets cost about 11.4 GPU-hours total.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LP (Linear Probe) Results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mean ± std across 3 seeds. Compared to the local full-data baseline (90.12).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2494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17922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98094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Retention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80.17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-9.95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3736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89.0%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14884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83.36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4884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-6.76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14884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92.5%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84.42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-5.70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93.7%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7180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85.65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97180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97180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-4.47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7180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95.0%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89.21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8328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38328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-0.91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38328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99.0%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7947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9476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90.12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9476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79476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0.00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79476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9768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9768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59028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11%  =  random guessing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59028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59028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459028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59028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760720"/>
            <a:ext cx="11430000" cy="9144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Headline:   1% → 80.17 PCA (89.0% retain)   |   50% → 89.21 PCA (99.0% retain)   |   per-seed std ≤ 0.26.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FT2 (Partial Fine-Tune) Results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mean ± std across 3 seeds. Compared to the local full-data baseline (94.61).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2494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17922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98094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Retention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82.22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-12.39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3736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86.9%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14884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83.84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4884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-10.77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14884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88.6%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85.68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0.71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-8.93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90.6%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7180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88.51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97180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1.27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97180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-6.10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7180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93.6%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93.79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8328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38328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-0.82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38328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99.1%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7947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9476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94.61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9476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79476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0.00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79476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9768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9768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59028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11%  =  random guessing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59028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59028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459028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59028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760720"/>
            <a:ext cx="11430000" cy="91440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Headline:   1% → 82.22 PCA (86.9% retain)   |   50% → 93.79 PCA (99.1% retain)   |   per-seed std ≤ 1.27.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— LoRA (Low-Rank Adapters) Results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PCA mean ± std across 3 seeds. Compared to the local full-data baseline (94.07).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22494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17922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PCA std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70662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980944" cy="45720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Retention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81.91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-12.16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3736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87.1%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14884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84.03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4884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-10.04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14884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62828"/>
                </a:solidFill>
              </a:rPr>
              <a:t>89.3%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85.37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-8.70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90.8%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7180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88.70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297180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0.93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97180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-5.37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7180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94.3%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22494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93.69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83280"/>
            <a:ext cx="17922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12121"/>
                </a:solidFill>
              </a:rPr>
              <a:t>± 0.18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383280"/>
            <a:ext cx="270662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-0.38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383280"/>
            <a:ext cx="298094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99.6%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7947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94760"/>
            <a:ext cx="22494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94.07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94760"/>
            <a:ext cx="17922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794760"/>
            <a:ext cx="270662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0.00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794760"/>
            <a:ext cx="298094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9768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9768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59028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11%  =  random guessing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59028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59028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459028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59028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760720"/>
            <a:ext cx="11430000" cy="914400"/>
          </a:xfrm>
          <a:prstGeom prst="roundRect">
            <a:avLst/>
          </a:prstGeom>
          <a:solidFill>
            <a:srgbClr val="6A1B9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Headline:   1% → 81.91 PCA (87.1% retain)   |   50% → 93.69 PCA (99.6% retain)   |   per-seed std ≤ 0.93.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RadCom OTA — Combined Results  (PCA, retain%, time per cell)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All three modes side-by-side. Each cell shows PCA, retention, and the wall-clock time for one (mode, subset) seeded run.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179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80160"/>
            <a:ext cx="33467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LP   (PCA / retain / 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280160"/>
            <a:ext cx="33467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FT2   (PCA / retain / time)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280160"/>
            <a:ext cx="3346704" cy="5029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LoRA   (PCA / retain /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78308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80.17   89.0%   11m 01s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78308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82.22   86.9%   11m 00s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78308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81.91   87.1%   10m 59s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19456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83.36   92.5%   11m 44s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19456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83.84   88.6%   11m 42s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19456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65100"/>
                </a:solidFill>
              </a:rPr>
              <a:t>84.03   89.3%   11m 44s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0604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60604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84.42   93.7%   12m 26s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60604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85.68   90.6%   12m 28s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60604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85.37   90.8%   12m 30s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01752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01752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85.65   95.0%   14m 24s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01752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88.51   93.6%   14m 30s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301752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88.70   94.3%   14m 34s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29000"/>
            <a:ext cx="15179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42900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4E79"/>
                </a:solidFill>
              </a:rPr>
              <a:t>89.21   99.0%   30m 05s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42900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93.79   99.1%   30m 05s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429000"/>
            <a:ext cx="3346704" cy="374904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93.69   99.6%   29m 57s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40480"/>
            <a:ext cx="15179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</a:rPr>
              <a:t>100%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84048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90.12   100.0%   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84048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94.61   100.0%   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840480"/>
            <a:ext cx="3346704" cy="3749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</a:rPr>
              <a:t>94.07   100.0%   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14800"/>
            <a:ext cx="56692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12121"/>
                </a:solidFill>
              </a:rPr>
              <a:t>What does Retain % mean?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</a:rPr>
              <a:t>Retain %  =  ( subset PCA  /  full-data baseline PCA )  × 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7474F"/>
                </a:solidFill>
              </a:rPr>
              <a:t>100% means the subset matches the full-data run; 80% means the subset reaches 80% of the full-data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12121"/>
                </a:solidFill>
              </a:rPr>
              <a:t>It is NOT raw accuracy — it is "what fraction of the full-data performance does this subset retain?".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114800"/>
            <a:ext cx="5669280" cy="292608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PCA legend  —  what the PCA value itself means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407408"/>
            <a:ext cx="1115568" cy="107899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≈ 11%  =  random guessing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0336" y="4407408"/>
            <a:ext cx="1115568" cy="1078992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20% – 40%   weak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4192" y="4407408"/>
            <a:ext cx="1115568" cy="107899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40% – 70%   moderate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4407408"/>
            <a:ext cx="1115568" cy="1078992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70% – 90%   strong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61904" y="4407408"/>
            <a:ext cx="1115568" cy="107899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&gt; 90%   near-baseline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577840"/>
            <a:ext cx="11430000" cy="292608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12121"/>
                </a:solidFill>
              </a:rPr>
              <a:t>Cell-colour legend (retention vs full-data baseline)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97880"/>
            <a:ext cx="320040" cy="29260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&gt;=99% retain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5897880"/>
            <a:ext cx="3200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&gt;=90% retain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897880"/>
            <a:ext cx="320040" cy="292608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&gt;=75% retain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5897880"/>
            <a:ext cx="320040" cy="292608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5925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74F"/>
                </a:solidFill>
              </a:rPr>
              <a:t>&lt;75% retain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6263640"/>
            <a:ext cx="114300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1">
                <a:solidFill>
                  <a:srgbClr val="2E7D32"/>
                </a:solidFill>
              </a:rPr>
              <a:t>Pattern: even at 1% data all three modes stay above 80 PCA. At 5% they cross 90% retention; by 50% the gap is &lt; 1 pp.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Total Study Cost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All 90 runs on a single RTX 5090, summarized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22494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280160"/>
            <a:ext cx="27066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RML22 task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280160"/>
            <a:ext cx="27066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RadCom task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80160"/>
            <a:ext cx="3621024" cy="5486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Session total (18 runs)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2494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82880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42m 00s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82880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1h 39m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6210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2h 21m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77440"/>
            <a:ext cx="22494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37744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45m 03s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37744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1h 45m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6210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2h 30m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26080"/>
            <a:ext cx="22494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92608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48m 16s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292608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1h 52m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6210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2h 40m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74720"/>
            <a:ext cx="22494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10%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347472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54m 29s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47472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2h 10m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474720"/>
            <a:ext cx="36210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3h 05m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22494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402336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1h 49m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4023360"/>
            <a:ext cx="27066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4h 30m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23360"/>
            <a:ext cx="3621024" cy="512063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12121"/>
                </a:solidFill>
              </a:rPr>
              <a:t>6h 20m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72000"/>
            <a:ext cx="22494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GRAND TOTAL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457200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E65100"/>
                </a:solidFill>
              </a:rPr>
              <a:t>4h 59m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4572000"/>
            <a:ext cx="27066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E65100"/>
                </a:solidFill>
              </a:rPr>
              <a:t>11h 57m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572000"/>
            <a:ext cx="3621024" cy="51206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E65100"/>
                </a:solidFill>
              </a:rPr>
              <a:t>16.96 h  (16h 57m)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120640"/>
            <a:ext cx="566928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</a:rPr>
              <a:t>Where the time goes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RadCom alone consumed ~11.4 GPU-h.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RML22 alone consumed ~5.6 GPU-h.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The 50% subset session is bigger than all 4 smaller subsets combined.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120640"/>
            <a:ext cx="566928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</a:rPr>
              <a:t>Cheapest most-informative probes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1%, 3%, 5% sessions cost ~7.5 GPU-h together but cover the most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important regime for label efficiency. Recommended starting point for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</a:rPr>
              <a:t>any future subset study on similar tasks.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Finding 1 — RadCom Is Highly Label-Efficient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The strongest piece of evidence in the study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3774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At just 10% labeled data (~45,360 samples)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all three modes already retain 93-95% of full-data PCA.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At 50% labeled data the gap to full-data is below 1 PCA point for every mode.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At 1% data — that is ~504 samples per class — LP still reaches 80.17 PCA.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1143000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Implication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For tasks similar to RadCom (coarse multi-class, IQ modality, well-separated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signal envelopes), a small labeled set is sufficient — the encoder carries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most of the predictive signal already.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This is exactly the foundation model promise made concrete: pretrain once,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adapt cheaply to many wireless signal-classification problems.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Finding 2 — RML22 Is Harder, Needs More Data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Eleven-way modulation classification keeps benefiting from data well into 50%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3774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12121"/>
                </a:solidFill>
              </a:rPr>
              <a:t>Even at 50% data, ~3-4 PCA points are still on the table for RML22.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At 1% data the modes drop to 30-35 PCA — much less retention than RadCom at the same subset.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E65100"/>
                </a:solidFill>
              </a:rPr>
              <a:t>Full-data RML22 PCA caps at ~56% — the task is intrinsically harder.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1143000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Implication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Pretraining features alone do not solve fine-grained modulation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discrimination — distinguishing QAM16 from QAM64 from raw IQ requires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more labeled supervision than the encoder can carry on its own.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Label budget DOES matter for this kind of fine modulation task.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LoRA is the best mode at every subset level — 1-3 PCA above LP/FT2.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Finding 3 — Mode Ordering Is Stable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Same ranking as the full-data reproduction holds throughout the subset sweep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37744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1F4E79"/>
                </a:solidFill>
              </a:rPr>
              <a:t>LoRA  &gt;=  FT2  &gt;=  LP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1">
                <a:solidFill>
                  <a:srgbClr val="37474F"/>
                </a:solidFill>
              </a:rPr>
              <a:t>at almost every (task, subset) cell.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LoRA wins on RML22 at every subset (1-3 PCA over LP/FT2).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On RadCom the three modes cluster within ~3 pp at every subset, with LoRA marginally on 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11430000" cy="27432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A1B9A"/>
                </a:solidFill>
              </a:rPr>
              <a:t>Why LoRA holds up so well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LoRA adapts EVERY block (rank-32 perturbations on Q/V), but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low-rank constraint regularizes the adaptation — it is the rare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combination of "more flexible than LP" AND "less prone to overfit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than FT2".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A1B9A"/>
                </a:solidFill>
              </a:rPr>
              <a:t>Trainable params: LoRA ~279K vs FT2 ~1.6M — about 5x fewer.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Yet LoRA matches or beats FT2 at every subset on both tasks.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Finding 4 — Mode Choice Does NOT Change Wall-Clock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LP, FT2, and LoRA finish within ~1% of each other at every subset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3774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A1B9A"/>
                </a:solidFill>
              </a:rPr>
              <a:t>Encoder forward pass dominates training time.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Backprop through a few hundred K extra params is essentially free.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Example: at 50% subset, RML22 takes 12:08 (LP), 12:11 (FT2), 12:12 (LoRA).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At 50% subset, RadCom takes 30:04 (LP), 30:05 (FT2), 29:57 (LoRA).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1143000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Practical takeaway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Choosing LoRA vs FT2 vs LP is purely a memory and accuracy decision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7474F"/>
                </a:solidFill>
              </a:rPr>
              <a:t>wall-clock cost is essentially identical.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LoRA gives the best of both worlds: lowest parameter overhead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2121"/>
                </a:solidFill>
              </a:rPr>
              <a:t>best (or tied-best) accuracy, at no time penalty.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</a:t>
            </a:r>
          </a:p>
          <a:p>
            <a:pPr algn="l"/>
            <a:r>
              <a:rPr sz="1600" i="1">
                <a:solidFill>
                  <a:srgbClr val="BBDEFB"/>
                </a:solidFill>
              </a:rPr>
              <a:t>How label-efficient is WavesFM?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12121"/>
                </a:solidFill>
              </a:rPr>
              <a:t>Answer: very efficient on coarse multi-class tasks (RadCom),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</a:rPr>
              <a:t>moderately efficient on fine-grained ones (RML22).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The pretrained backbone reduces the label requirement substantially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</a:rPr>
              <a:t>but it cannot eliminate it for genuinely hard discrimination problems.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657600"/>
            <a:ext cx="5669280" cy="29260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</a:rPr>
              <a:t>Recommended use of WavesFM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Default mode: LoRA  (best accuracy, lowest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parameter overhead, no time penalty).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Probe label-efficiency cheaply with the 1%, 3%,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5% subsets first — if performance is acceptable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</a:rPr>
              <a:t>there, full-data fine-tuning may be unnecessary.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3657600"/>
            <a:ext cx="5669280" cy="2926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65100"/>
                </a:solidFill>
              </a:rPr>
              <a:t>Where the study leaves open questions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Only modulation tasks were probed. Whether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same label efficiency holds for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positioning, sensing, or beam prediction 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untested.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37474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7474F"/>
                </a:solidFill>
              </a:rPr>
              <a:t>SNR-stratified subsets are also unexplored — at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65100"/>
                </a:solidFill>
              </a:rPr>
              <a:t>1% the easy and hard SNRs are sampled equally.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